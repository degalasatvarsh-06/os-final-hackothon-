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6466a9c-0939-65bd-da53-8b0c298563fe}">
          <p14:sldIdLst>
            <p14:sldId id="256"/>
            <p14:sldId id="257"/>
            <p14:sldId id="258"/>
            <p14:sldId id="259"/>
          </p14:sldIdLst>
        </p14:section>
        <p14:section name="Design" id="{013a19e6-75d0-7020-194e-207bcfb3bd2e}">
          <p14:sldIdLst>
            <p14:sldId id="260"/>
            <p14:sldId id="261"/>
            <p14:sldId id="262"/>
          </p14:sldIdLst>
        </p14:section>
        <p14:section name="OS Concepts" id="{cd23c312-523f-1e8b-5d8d-ca061fc5feda}">
          <p14:sldIdLst>
            <p14:sldId id="263"/>
            <p14:sldId id="264"/>
            <p14:sldId id="265"/>
            <p14:sldId id="266"/>
            <p14:sldId id="267"/>
          </p14:sldIdLst>
        </p14:section>
        <p14:section name="Outcome" id="{eafcc429-9a53-8980-070e-81b39f4868dd}">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C"/>
                </a:solidFill>
                <a:latin typeface="+mn-lt"/>
              </a:defRPr>
            </a:pPr>
            <a:r>
              <a:rPr sz="1400" b="0" i="0" u="none" strike="noStrike">
                <a:solidFill>
                  <a:srgbClr val="1B2A3C"/>
                </a:solidFill>
                <a:latin typeface="+mn-lt"/>
              </a:rPr>
              <a:t>Total head movement (cylinders)</a:t>
            </a:r>
          </a:p>
        </c:rich>
      </c:tx>
      <c:layout/>
      <c:overlay val="0"/>
    </c:title>
    <c:autoTitleDeleted val="0"/>
    <c:plotArea>
      <c:layout/>
      <c:barChart>
        <c:barDir val="col"/>
        <c:grouping val="clustered"/>
        <c:varyColors val="0"/>
        <c:ser>
          <c:idx val="0"/>
          <c:order val="0"/>
          <c:tx>
            <c:strRef>
              <c:f>Sheet1!$B$1</c:f>
              <c:strCache>
                <c:ptCount val="1"/>
                <c:pt idx="0">
                  <c:v>Head movement</c:v>
                </c:pt>
              </c:strCache>
            </c:strRef>
          </c:tx>
          <c:spPr>
            <a:solidFill>
              <a:srgbClr val="1E4D6E"/>
            </a:solidFill>
            <a:effectLst/>
          </c:spPr>
          <c:invertIfNegative val="0"/>
          <c:dLbls>
            <c:numFmt formatCode="#,##0" sourceLinked="0"/>
            <c:txPr>
              <a:bodyPr/>
              <a:lstStyle/>
              <a:p>
                <a:pPr>
                  <a:defRPr b="0" i="0" strike="noStrike" sz="1200" u="none">
                    <a:solidFill>
                      <a:srgbClr val="1B2A3C"/>
                    </a:solidFill>
                    <a:latin typeface="+mn-lt"/>
                  </a:defRPr>
                </a:pPr>
              </a:p>
            </c:txPr>
            <c:showLegendKey val="0"/>
            <c:showVal val="1"/>
            <c:showCatName val="0"/>
            <c:showSerName val="0"/>
            <c:showPercent val="0"/>
            <c:showBubbleSize val="0"/>
            <c:showLeaderLines val="0"/>
          </c:dLbls>
          <c:dPt>
            <c:idx val="0"/>
            <c:invertIfNegative val="0"/>
            <c:bubble3D val="0"/>
            <c:spPr>
              <a:solidFill>
                <a:srgbClr val="1E4D6E"/>
              </a:solidFill>
              <a:effectLst/>
            </c:spPr>
          </c:dPt>
          <c:dPt>
            <c:idx val="1"/>
            <c:invertIfNegative val="0"/>
            <c:bubble3D val="0"/>
            <c:spPr>
              <a:solidFill>
                <a:srgbClr val="F5A300"/>
              </a:solidFill>
              <a:effectLst/>
            </c:spPr>
          </c:dPt>
          <c:dPt>
            <c:idx val="2"/>
            <c:invertIfNegative val="0"/>
            <c:bubble3D val="0"/>
            <c:spPr>
              <a:solidFill>
                <a:srgbClr val="1E4D6E"/>
              </a:solidFill>
              <a:effectLst/>
            </c:spPr>
          </c:dPt>
          <c:dPt>
            <c:idx val="3"/>
            <c:invertIfNegative val="0"/>
            <c:bubble3D val="0"/>
            <c:spPr>
              <a:solidFill>
                <a:srgbClr val="1E4D6E"/>
              </a:solidFill>
              <a:effectLst/>
            </c:spPr>
          </c:dPt>
          <c:dPt>
            <c:idx val="4"/>
            <c:invertIfNegative val="0"/>
            <c:bubble3D val="0"/>
            <c:spPr>
              <a:solidFill>
                <a:srgbClr val="1E4D6E"/>
              </a:solidFill>
              <a:effectLst/>
            </c:spPr>
          </c:dPt>
          <c:cat>
            <c:multiLvlStrRef>
              <c:f>Sheet1!$A$2:$A$6</c:f>
              <c:multiLvlStrCache>
                <c:ptCount val="5"/>
                <c:lvl>
                  <c:pt idx="0">
                    <c:v>FCFS</c:v>
                  </c:pt>
                  <c:pt idx="1">
                    <c:v>SSTF</c:v>
                  </c:pt>
                  <c:pt idx="2">
                    <c:v>SCAN</c:v>
                  </c:pt>
                  <c:pt idx="3">
                    <c:v>C-SCAN</c:v>
                  </c:pt>
                  <c:pt idx="4">
                    <c:v>LOOK</c:v>
                  </c:pt>
                </c:lvl>
              </c:multiLvlStrCache>
            </c:multiLvlStrRef>
          </c:cat>
          <c:val>
            <c:numRef>
              <c:f>Sheet1!$B$2:$B$6</c:f>
              <c:numCache>
                <c:formatCode>General</c:formatCode>
                <c:ptCount val="5"/>
                <c:pt idx="0">
                  <c:v>640</c:v>
                </c:pt>
                <c:pt idx="1">
                  <c:v>236</c:v>
                </c:pt>
                <c:pt idx="2">
                  <c:v>331</c:v>
                </c:pt>
                <c:pt idx="3">
                  <c:v>382</c:v>
                </c:pt>
                <c:pt idx="4">
                  <c:v>299</c:v>
                </c:pt>
              </c:numCache>
            </c:numRef>
          </c:val>
        </c:ser>
        <c:dLbls>
          <c:numFmt formatCode="#,##0" sourceLinked="0"/>
          <c:txPr>
            <a:bodyPr/>
            <a:lstStyle/>
            <a:p>
              <a:pPr>
                <a:defRPr b="0" i="0" strike="noStrike" sz="1200" u="none">
                  <a:solidFill>
                    <a:srgbClr val="1B2A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C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A3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280160"/>
            <a:ext cx="5669280" cy="12801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640080" y="2651760"/>
            <a:ext cx="5486400" cy="365760"/>
          </a:xfrm>
          <a:prstGeom prst="rect">
            <a:avLst/>
          </a:prstGeom>
          <a:noFill/>
          <a:ln/>
        </p:spPr>
        <p:txBody>
          <a:bodyPr wrap="square" rtlCol="0"/>
          <a:lstStyle>
            <a:lvl1pPr algn="l" indent="0" marL="0">
              <a:buNone/>
              <a:defRPr lang="en-US" sz="1600" i="1" dirty="0">
                <a:solidFill>
                  <a:schemeClr val="accent4"/>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804672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4773168"/>
            <a:ext cx="4572000" cy="228600"/>
          </a:xfrm>
          <a:prstGeom prst="rect">
            <a:avLst/>
          </a:prstGeom>
          <a:noFill/>
          <a:ln/>
        </p:spPr>
        <p:txBody>
          <a:bodyPr wrap="square" lIns="0" tIns="0" rIns="0" bIns="0" rtlCol="0" anchor="ctr"/>
          <a:lstStyle/>
          <a:p>
            <a:pPr indent="0" marL="0">
              <a:buNone/>
            </a:pPr>
            <a:r>
              <a:rPr lang="en-US" sz="1000" dirty="0">
                <a:solidFill>
                  <a:schemeClr val="accent2"/>
                </a:solidFill>
              </a:rPr>
              <a:t>Smart Disk Scheduler  |  Operating Systems</a:t>
            </a:r>
            <a:endParaRPr lang="en-US" sz="10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8046720" cy="5486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4773168"/>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Smart Disk Scheduler  |  Operating Systems</a:t>
            </a:r>
            <a:endParaRPr lang="en-US" sz="10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p:cNvSpPr/>
          <p:nvPr/>
        </p:nvSpPr>
        <p:spPr>
          <a:xfrm>
            <a:off x="6400800" y="-914400"/>
            <a:ext cx="3657600" cy="3657600"/>
          </a:xfrm>
          <a:prstGeom prst="ellipse">
            <a:avLst/>
          </a:prstGeom>
          <a:solidFill>
            <a:schemeClr val="accent2"/>
          </a:solidFill>
          <a:ln w="12700">
            <a:solidFill>
              <a:schemeClr val="accent2"/>
            </a:solidFill>
            <a:prstDash val="solid"/>
          </a:ln>
        </p:spPr>
      </p:sp>
      <p:sp>
        <p:nvSpPr>
          <p:cNvPr id="3" name="Decor circle 2"/>
          <p:cNvSpPr/>
          <p:nvPr/>
        </p:nvSpPr>
        <p:spPr>
          <a:xfrm>
            <a:off x="7223760" y="3383280"/>
            <a:ext cx="2651760" cy="2651760"/>
          </a:xfrm>
          <a:prstGeom prst="ellipse">
            <a:avLst/>
          </a:prstGeom>
          <a:solidFill>
            <a:schemeClr val="accent1">
              <a:alpha val="45000"/>
            </a:schemeClr>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40080" y="548640"/>
            <a:ext cx="640080" cy="640080"/>
          </a:xfrm>
          <a:prstGeom prst="rect">
            <a:avLst/>
          </a:prstGeom>
        </p:spPr>
      </p:pic>
      <p:sp>
        <p:nvSpPr>
          <p:cNvPr id="5" name="Text 0"/>
          <p:cNvSpPr/>
          <p:nvPr>
            <p:ph idx="100" type="title" hasCustomPrompt="1"/>
          </p:nvPr>
        </p:nvSpPr>
        <p:spPr>
          <a:xfrm>
            <a:off x="640080" y="1280160"/>
            <a:ext cx="5669280" cy="1280160"/>
          </a:xfrm>
          <a:prstGeom prst="rect">
            <a:avLst/>
          </a:prstGeom>
          <a:noFill/>
          <a:ln/>
        </p:spPr>
        <p:txBody>
          <a:bodyPr wrap="square" lIns="0" tIns="0" rIns="0" bIns="0" rtlCol="0" anchor="t"/>
          <a:lstStyle/>
          <a:p>
            <a:pPr algn="l" indent="0" marL="0">
              <a:buNone/>
            </a:pPr>
            <a:r>
              <a:rPr lang="en-US" sz="3800" b="1" dirty="0">
                <a:solidFill>
                  <a:schemeClr val="bg1"/>
                </a:solidFill>
              </a:rPr>
              <a:t>SMART DISK</a:t>
            </a:r>
            <a:endParaRPr lang="en-US" sz="3800" dirty="0"/>
          </a:p>
          <a:p>
            <a:pPr algn="l" indent="0" marL="0">
              <a:buNone/>
            </a:pPr>
            <a:r>
              <a:rPr lang="en-US" sz="3800" b="1" dirty="0">
                <a:solidFill>
                  <a:schemeClr val="bg1"/>
                </a:solidFill>
              </a:rPr>
              <a:t>SCHEDULER</a:t>
            </a:r>
            <a:endParaRPr lang="en-US" sz="3800" dirty="0"/>
          </a:p>
        </p:txBody>
      </p:sp>
      <p:sp>
        <p:nvSpPr>
          <p:cNvPr id="6" name="Text 0"/>
          <p:cNvSpPr/>
          <p:nvPr>
            <p:ph idx="101" type="body" hasCustomPrompt="1"/>
          </p:nvPr>
        </p:nvSpPr>
        <p:spPr>
          <a:xfrm>
            <a:off x="640080" y="2651760"/>
            <a:ext cx="5486400" cy="365760"/>
          </a:xfrm>
          <a:prstGeom prst="rect">
            <a:avLst/>
          </a:prstGeom>
          <a:noFill/>
          <a:ln/>
        </p:spPr>
        <p:txBody>
          <a:bodyPr wrap="square" lIns="0" tIns="0" rIns="0" bIns="0" rtlCol="0" anchor="t"/>
          <a:lstStyle/>
          <a:p>
            <a:pPr algn="l" indent="0" marL="0">
              <a:buNone/>
            </a:pPr>
            <a:r>
              <a:rPr lang="en-US" sz="1600" i="1" dirty="0">
                <a:solidFill>
                  <a:schemeClr val="accent4"/>
                </a:solidFill>
              </a:rPr>
              <a:t>An Adaptive Disk I/O Scheduler for Linux</a:t>
            </a:r>
            <a:endParaRPr lang="en-US" sz="1600" dirty="0"/>
          </a:p>
        </p:txBody>
      </p:sp>
      <p:sp>
        <p:nvSpPr>
          <p:cNvPr id="7" name="Text 4"/>
          <p:cNvSpPr txBox="1"/>
          <p:nvPr/>
        </p:nvSpPr>
        <p:spPr>
          <a:xfrm>
            <a:off x="640080" y="3200400"/>
            <a:ext cx="5669280" cy="292608"/>
          </a:xfrm>
          <a:prstGeom prst="rect">
            <a:avLst/>
          </a:prstGeom>
          <a:noFill/>
          <a:ln/>
        </p:spPr>
        <p:txBody>
          <a:bodyPr wrap="square" lIns="0" tIns="0" rIns="0" bIns="0" rtlCol="0" anchor="ctr"/>
          <a:lstStyle/>
          <a:p>
            <a:pPr indent="0" marL="0">
              <a:buNone/>
            </a:pPr>
            <a:r>
              <a:rPr lang="en-US" sz="1600" b="1" dirty="0">
                <a:solidFill>
                  <a:schemeClr val="accent1"/>
                </a:solidFill>
              </a:rPr>
              <a:t>Satvarsh (2520090080)</a:t>
            </a:r>
            <a:endParaRPr lang="en-US" sz="1600" dirty="0"/>
          </a:p>
        </p:txBody>
      </p:sp>
      <p:sp>
        <p:nvSpPr>
          <p:cNvPr id="8" name="Text 5"/>
          <p:cNvSpPr txBox="1"/>
          <p:nvPr/>
        </p:nvSpPr>
        <p:spPr>
          <a:xfrm>
            <a:off x="640080" y="3502152"/>
            <a:ext cx="5669280" cy="292608"/>
          </a:xfrm>
          <a:prstGeom prst="rect">
            <a:avLst/>
          </a:prstGeom>
          <a:noFill/>
          <a:ln/>
        </p:spPr>
        <p:txBody>
          <a:bodyPr wrap="square" lIns="0" tIns="0" rIns="0" bIns="0" rtlCol="0" anchor="ctr"/>
          <a:lstStyle/>
          <a:p>
            <a:pPr indent="0" marL="0">
              <a:buNone/>
            </a:pPr>
            <a:r>
              <a:rPr lang="en-US" sz="1600" b="1" dirty="0">
                <a:solidFill>
                  <a:schemeClr val="accent1"/>
                </a:solidFill>
              </a:rPr>
              <a:t>Shashank (2520090086)</a:t>
            </a:r>
            <a:endParaRPr lang="en-US" sz="1600" dirty="0"/>
          </a:p>
        </p:txBody>
      </p:sp>
      <p:sp>
        <p:nvSpPr>
          <p:cNvPr id="9" name="Text 6"/>
          <p:cNvSpPr txBox="1"/>
          <p:nvPr/>
        </p:nvSpPr>
        <p:spPr>
          <a:xfrm>
            <a:off x="640080" y="3803904"/>
            <a:ext cx="5669280" cy="292608"/>
          </a:xfrm>
          <a:prstGeom prst="rect">
            <a:avLst/>
          </a:prstGeom>
          <a:noFill/>
          <a:ln/>
        </p:spPr>
        <p:txBody>
          <a:bodyPr wrap="square" lIns="0" tIns="0" rIns="0" bIns="0" rtlCol="0" anchor="ctr"/>
          <a:lstStyle/>
          <a:p>
            <a:pPr indent="0" marL="0">
              <a:buNone/>
            </a:pPr>
            <a:r>
              <a:rPr lang="en-US" sz="1600" b="1" dirty="0">
                <a:solidFill>
                  <a:schemeClr val="accent1"/>
                </a:solidFill>
              </a:rPr>
              <a:t>Laxman Raj (2520090064)</a:t>
            </a:r>
            <a:endParaRPr lang="en-US" sz="1600" dirty="0"/>
          </a:p>
        </p:txBody>
      </p:sp>
      <p:sp>
        <p:nvSpPr>
          <p:cNvPr id="10" name="Text 7"/>
          <p:cNvSpPr txBox="1"/>
          <p:nvPr/>
        </p:nvSpPr>
        <p:spPr>
          <a:xfrm>
            <a:off x="640080" y="4251960"/>
            <a:ext cx="5669280" cy="274320"/>
          </a:xfrm>
          <a:prstGeom prst="rect">
            <a:avLst/>
          </a:prstGeom>
          <a:noFill/>
          <a:ln/>
        </p:spPr>
        <p:txBody>
          <a:bodyPr wrap="square" lIns="0" tIns="0" rIns="0" bIns="0" rtlCol="0" anchor="ctr"/>
          <a:lstStyle/>
          <a:p>
            <a:pPr indent="0" marL="0">
              <a:buNone/>
            </a:pPr>
            <a:r>
              <a:rPr lang="en-US" sz="1400" dirty="0">
                <a:solidFill>
                  <a:schemeClr val="bg1"/>
                </a:solidFill>
              </a:rPr>
              <a:t>Operating Systems  |  Mini Project  |  KLH University</a:t>
            </a:r>
            <a:endParaRPr lang="en-US" sz="1400" dirty="0"/>
          </a:p>
        </p:txBody>
      </p:sp>
      <p:sp>
        <p:nvSpPr>
          <p:cNvPr id="11" name="Text 8"/>
          <p:cNvSpPr txBox="1"/>
          <p:nvPr/>
        </p:nvSpPr>
        <p:spPr>
          <a:xfrm>
            <a:off x="640080" y="4572000"/>
            <a:ext cx="5669280" cy="256032"/>
          </a:xfrm>
          <a:prstGeom prst="rect">
            <a:avLst/>
          </a:prstGeom>
          <a:noFill/>
          <a:ln/>
        </p:spPr>
        <p:txBody>
          <a:bodyPr wrap="square" lIns="0" tIns="0" rIns="0" bIns="0" rtlCol="0" anchor="ctr"/>
          <a:lstStyle/>
          <a:p>
            <a:pPr indent="0" marL="0">
              <a:buNone/>
            </a:pPr>
            <a:r>
              <a:rPr lang="en-US" sz="1200" dirty="0">
                <a:solidFill>
                  <a:schemeClr val="accent4"/>
                </a:solidFill>
              </a:rPr>
              <a:t>Covers CO-1 to CO-6 of the course handout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tag"/>
          <p:cNvSpPr/>
          <p:nvPr/>
        </p:nvSpPr>
        <p:spPr>
          <a:xfrm>
            <a:off x="548640" y="256032"/>
            <a:ext cx="1746504"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746504"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01  ABSTRACT</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Abstract</a:t>
            </a:r>
            <a:endParaRPr lang="en-US" sz="2800" dirty="0"/>
          </a:p>
        </p:txBody>
      </p:sp>
      <p:sp>
        <p:nvSpPr>
          <p:cNvPr id="5" name="Abstract card"/>
          <p:cNvSpPr/>
          <p:nvPr/>
        </p:nvSpPr>
        <p:spPr>
          <a:xfrm>
            <a:off x="548640" y="1234440"/>
            <a:ext cx="8046720" cy="3383280"/>
          </a:xfrm>
          <a:prstGeom prst="roundRect">
            <a:avLst>
              <a:gd name="adj" fmla="val 2162"/>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77240" y="1325880"/>
            <a:ext cx="7589520" cy="3200400"/>
          </a:xfrm>
          <a:prstGeom prst="rect">
            <a:avLst/>
          </a:prstGeom>
          <a:noFill/>
          <a:ln/>
        </p:spPr>
        <p:txBody>
          <a:bodyPr wrap="square" lIns="0" tIns="0" rIns="0" bIns="0" rtlCol="0" anchor="ctr"/>
          <a:lstStyle/>
          <a:p>
            <a:pPr algn="just" indent="0" marL="0">
              <a:buNone/>
            </a:pPr>
            <a:r>
              <a:rPr lang="en-US" sz="1400" dirty="0">
                <a:solidFill>
                  <a:schemeClr val="tx1"/>
                </a:solidFill>
              </a:rPr>
              <a:t>The Smart Disk Scheduler is a Linux-based mini project designed to improve disk I/O performance by efficiently scheduling disk access requests from multiple client processes. The project implements five disk scheduling algorithms: First Come First Serve (FCFS), Shortest Seek Time First (SSTF), SCAN, C-SCAN, and LOOK. It uses an adaptive policy engine that selects a suitable scheduling algorithm based on queue length, request distribution, and waiting time. The system uses a named pipe (FIFO) for inter-process communication, POSIX signals for controlling the scheduler, and multithreading with mutexes, condition variables, and semaphores to ensure safe access to the shared request queue. Disk operations are performed using file descriptors and the pread() system call on a disk image file. The project aims to reduce disk head movement, improve request response time, maintain fairness, and prevent starvation. It also demonstrates important operating system concepts, including process management, memory management, file systems, inter-process communication, and synchronization. Overall, the Smart Disk Scheduler provides an efficient and adaptive approach to disk request management in a Linux environment.</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tag"/>
          <p:cNvSpPr/>
          <p:nvPr/>
        </p:nvSpPr>
        <p:spPr>
          <a:xfrm>
            <a:off x="548640" y="256032"/>
            <a:ext cx="1152144"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152144"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02  AIM</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Aim of the Project</a:t>
            </a:r>
            <a:endParaRPr lang="en-US" sz="2800" dirty="0"/>
          </a:p>
        </p:txBody>
      </p:sp>
      <p:sp>
        <p:nvSpPr>
          <p:cNvPr id="5" name="Aim card"/>
          <p:cNvSpPr/>
          <p:nvPr/>
        </p:nvSpPr>
        <p:spPr>
          <a:xfrm>
            <a:off x="548640" y="1371600"/>
            <a:ext cx="5212080" cy="3063240"/>
          </a:xfrm>
          <a:prstGeom prst="roundRect">
            <a:avLst>
              <a:gd name="adj" fmla="val 238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1600200"/>
            <a:ext cx="4663440" cy="2606040"/>
          </a:xfrm>
          <a:prstGeom prst="rect">
            <a:avLst/>
          </a:prstGeom>
          <a:noFill/>
          <a:ln/>
        </p:spPr>
        <p:txBody>
          <a:bodyPr wrap="square" lIns="0" tIns="0" rIns="0" bIns="0" rtlCol="0" anchor="ctr"/>
          <a:lstStyle/>
          <a:p>
            <a:pPr indent="0" marL="0">
              <a:buNone/>
            </a:pPr>
            <a:r>
              <a:rPr lang="en-US" sz="1500" dirty="0">
                <a:solidFill>
                  <a:schemeClr val="tx1"/>
                </a:solidFill>
              </a:rPr>
              <a:t>To design and implement Smart Disk Scheduler, a Linux user-space program that receives disk I/O requests from several client processes, picks the best scheduling policy (FCFS, SSTF, SCAN, C-SCAN or LOOK) for the live workload, and serves requests with minimal head movement and no starvation. It brings together processes, IPC, memory, file I/O and synchronization in one working system.</a:t>
            </a:r>
            <a:endParaRPr lang="en-US" sz="1500" dirty="0"/>
          </a:p>
        </p:txBody>
      </p:sp>
      <p:sp>
        <p:nvSpPr>
          <p:cNvPr id="7" name="Icon circle"/>
          <p:cNvSpPr/>
          <p:nvPr/>
        </p:nvSpPr>
        <p:spPr>
          <a:xfrm>
            <a:off x="6172200" y="1417320"/>
            <a:ext cx="777240" cy="777240"/>
          </a:xfrm>
          <a:prstGeom prst="ellipse">
            <a:avLst/>
          </a:prstGeom>
          <a:solidFill>
            <a:schemeClr val="tx2"/>
          </a:solidFill>
          <a:ln w="12700">
            <a:solidFill>
              <a:schemeClr val="tx2"/>
            </a:solidFill>
            <a:prstDash val="solid"/>
          </a:ln>
        </p:spPr>
      </p:sp>
      <p:pic>
        <p:nvPicPr>
          <p:cNvPr id="8" name="Image 0" descr="preencoded.png">    </p:cNvPr>
          <p:cNvPicPr>
            <a:picLocks noChangeAspect="1"/>
          </p:cNvPicPr>
          <p:nvPr/>
        </p:nvPicPr>
        <p:blipFill>
          <a:blip r:embed="rId1"/>
          <a:stretch>
            <a:fillRect/>
          </a:stretch>
        </p:blipFill>
        <p:spPr>
          <a:xfrm>
            <a:off x="6358738" y="1603858"/>
            <a:ext cx="404165" cy="404165"/>
          </a:xfrm>
          <a:prstGeom prst="rect">
            <a:avLst/>
          </a:prstGeom>
        </p:spPr>
      </p:pic>
      <p:sp>
        <p:nvSpPr>
          <p:cNvPr id="9" name="Text 6"/>
          <p:cNvSpPr txBox="1"/>
          <p:nvPr/>
        </p:nvSpPr>
        <p:spPr>
          <a:xfrm>
            <a:off x="7132320" y="1490472"/>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Efficient</a:t>
            </a:r>
            <a:endParaRPr lang="en-US" sz="1800" dirty="0"/>
          </a:p>
        </p:txBody>
      </p:sp>
      <p:sp>
        <p:nvSpPr>
          <p:cNvPr id="10" name="Text 7"/>
          <p:cNvSpPr txBox="1"/>
          <p:nvPr/>
        </p:nvSpPr>
        <p:spPr>
          <a:xfrm>
            <a:off x="7132320" y="1828800"/>
            <a:ext cx="1645920" cy="365760"/>
          </a:xfrm>
          <a:prstGeom prst="rect">
            <a:avLst/>
          </a:prstGeom>
          <a:noFill/>
          <a:ln/>
        </p:spPr>
        <p:txBody>
          <a:bodyPr wrap="square" lIns="0" tIns="0" rIns="0" bIns="0" rtlCol="0" anchor="t"/>
          <a:lstStyle/>
          <a:p>
            <a:pPr indent="0" marL="0">
              <a:buNone/>
            </a:pPr>
            <a:r>
              <a:rPr lang="en-US" sz="1200" dirty="0">
                <a:solidFill>
                  <a:schemeClr val="accent2"/>
                </a:solidFill>
              </a:rPr>
              <a:t>Minimal head movement</a:t>
            </a:r>
            <a:endParaRPr lang="en-US" sz="1200" dirty="0"/>
          </a:p>
        </p:txBody>
      </p:sp>
      <p:sp>
        <p:nvSpPr>
          <p:cNvPr id="11" name="Icon circle"/>
          <p:cNvSpPr/>
          <p:nvPr/>
        </p:nvSpPr>
        <p:spPr>
          <a:xfrm>
            <a:off x="6172200" y="2441448"/>
            <a:ext cx="777240" cy="777240"/>
          </a:xfrm>
          <a:prstGeom prst="ellipse">
            <a:avLst/>
          </a:prstGeom>
          <a:solidFill>
            <a:schemeClr val="tx2"/>
          </a:solidFill>
          <a:ln w="1270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6358738" y="2627986"/>
            <a:ext cx="404165" cy="404165"/>
          </a:xfrm>
          <a:prstGeom prst="rect">
            <a:avLst/>
          </a:prstGeom>
        </p:spPr>
      </p:pic>
      <p:sp>
        <p:nvSpPr>
          <p:cNvPr id="13" name="Text 9"/>
          <p:cNvSpPr txBox="1"/>
          <p:nvPr/>
        </p:nvSpPr>
        <p:spPr>
          <a:xfrm>
            <a:off x="7132320" y="251460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Fair</a:t>
            </a:r>
            <a:endParaRPr lang="en-US" sz="1800" dirty="0"/>
          </a:p>
        </p:txBody>
      </p:sp>
      <p:sp>
        <p:nvSpPr>
          <p:cNvPr id="14" name="Text 10"/>
          <p:cNvSpPr txBox="1"/>
          <p:nvPr/>
        </p:nvSpPr>
        <p:spPr>
          <a:xfrm>
            <a:off x="7132320" y="2852928"/>
            <a:ext cx="1645920" cy="365760"/>
          </a:xfrm>
          <a:prstGeom prst="rect">
            <a:avLst/>
          </a:prstGeom>
          <a:noFill/>
          <a:ln/>
        </p:spPr>
        <p:txBody>
          <a:bodyPr wrap="square" lIns="0" tIns="0" rIns="0" bIns="0" rtlCol="0" anchor="t"/>
          <a:lstStyle/>
          <a:p>
            <a:pPr indent="0" marL="0">
              <a:buNone/>
            </a:pPr>
            <a:r>
              <a:rPr lang="en-US" sz="1200" dirty="0">
                <a:solidFill>
                  <a:schemeClr val="accent2"/>
                </a:solidFill>
              </a:rPr>
              <a:t>No request starves</a:t>
            </a:r>
            <a:endParaRPr lang="en-US" sz="1200" dirty="0"/>
          </a:p>
        </p:txBody>
      </p:sp>
      <p:sp>
        <p:nvSpPr>
          <p:cNvPr id="15" name="Icon circle"/>
          <p:cNvSpPr/>
          <p:nvPr/>
        </p:nvSpPr>
        <p:spPr>
          <a:xfrm>
            <a:off x="6172200" y="3465576"/>
            <a:ext cx="777240" cy="77724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6358738" y="3652114"/>
            <a:ext cx="404165" cy="404165"/>
          </a:xfrm>
          <a:prstGeom prst="rect">
            <a:avLst/>
          </a:prstGeom>
        </p:spPr>
      </p:pic>
      <p:sp>
        <p:nvSpPr>
          <p:cNvPr id="17" name="Text 12"/>
          <p:cNvSpPr txBox="1"/>
          <p:nvPr/>
        </p:nvSpPr>
        <p:spPr>
          <a:xfrm>
            <a:off x="7132320" y="3538728"/>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Adaptive</a:t>
            </a:r>
            <a:endParaRPr lang="en-US" sz="1800" dirty="0"/>
          </a:p>
        </p:txBody>
      </p:sp>
      <p:sp>
        <p:nvSpPr>
          <p:cNvPr id="18" name="Text 13"/>
          <p:cNvSpPr txBox="1"/>
          <p:nvPr/>
        </p:nvSpPr>
        <p:spPr>
          <a:xfrm>
            <a:off x="7132320" y="3877056"/>
            <a:ext cx="1645920" cy="365760"/>
          </a:xfrm>
          <a:prstGeom prst="rect">
            <a:avLst/>
          </a:prstGeom>
          <a:noFill/>
          <a:ln/>
        </p:spPr>
        <p:txBody>
          <a:bodyPr wrap="square" lIns="0" tIns="0" rIns="0" bIns="0" rtlCol="0" anchor="t"/>
          <a:lstStyle/>
          <a:p>
            <a:pPr indent="0" marL="0">
              <a:buNone/>
            </a:pPr>
            <a:r>
              <a:rPr lang="en-US" sz="1200" dirty="0">
                <a:solidFill>
                  <a:schemeClr val="accent2"/>
                </a:solidFill>
              </a:rPr>
              <a:t>Policy follows the workload</a:t>
            </a:r>
            <a:endParaRPr lang="en-US" sz="12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tag"/>
          <p:cNvSpPr/>
          <p:nvPr/>
        </p:nvSpPr>
        <p:spPr>
          <a:xfrm>
            <a:off x="548640" y="256032"/>
            <a:ext cx="1984248"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984248"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03  OBJECTIVES</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Project Objectives</a:t>
            </a:r>
            <a:endParaRPr lang="en-US" sz="2800" dirty="0"/>
          </a:p>
        </p:txBody>
      </p:sp>
      <p:sp>
        <p:nvSpPr>
          <p:cNvPr id="5" name="Objective row"/>
          <p:cNvSpPr/>
          <p:nvPr/>
        </p:nvSpPr>
        <p:spPr>
          <a:xfrm>
            <a:off x="548640" y="1280160"/>
            <a:ext cx="8046720" cy="566928"/>
          </a:xfrm>
          <a:prstGeom prst="roundRect">
            <a:avLst>
              <a:gd name="adj" fmla="val 967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Number circle"/>
          <p:cNvSpPr/>
          <p:nvPr/>
        </p:nvSpPr>
        <p:spPr>
          <a:xfrm>
            <a:off x="713232" y="1380744"/>
            <a:ext cx="365760" cy="365760"/>
          </a:xfrm>
          <a:prstGeom prst="ellipse">
            <a:avLst/>
          </a:prstGeom>
          <a:solidFill>
            <a:schemeClr val="tx2"/>
          </a:solidFill>
          <a:ln w="12700">
            <a:solidFill>
              <a:schemeClr val="tx2"/>
            </a:solidFill>
            <a:prstDash val="solid"/>
          </a:ln>
        </p:spPr>
      </p:sp>
      <p:sp>
        <p:nvSpPr>
          <p:cNvPr id="7" name="Text 5"/>
          <p:cNvSpPr txBox="1"/>
          <p:nvPr/>
        </p:nvSpPr>
        <p:spPr>
          <a:xfrm>
            <a:off x="713232" y="1380744"/>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8" name="Text 6"/>
          <p:cNvSpPr txBox="1"/>
          <p:nvPr/>
        </p:nvSpPr>
        <p:spPr>
          <a:xfrm>
            <a:off x="1280160" y="1316736"/>
            <a:ext cx="7178040" cy="493776"/>
          </a:xfrm>
          <a:prstGeom prst="rect">
            <a:avLst/>
          </a:prstGeom>
          <a:noFill/>
          <a:ln/>
        </p:spPr>
        <p:txBody>
          <a:bodyPr wrap="square" lIns="0" tIns="0" rIns="0" bIns="0" rtlCol="0" anchor="ctr"/>
          <a:lstStyle/>
          <a:p>
            <a:pPr indent="0" marL="0">
              <a:buNone/>
            </a:pPr>
            <a:r>
              <a:rPr lang="en-US" sz="1400" dirty="0">
                <a:solidFill>
                  <a:schemeClr val="tx1"/>
                </a:solidFill>
              </a:rPr>
              <a:t>Model the disk as a file of fixed-size blocks, read with pread() through file descriptors.</a:t>
            </a:r>
            <a:endParaRPr lang="en-US" sz="1400" dirty="0"/>
          </a:p>
        </p:txBody>
      </p:sp>
      <p:sp>
        <p:nvSpPr>
          <p:cNvPr id="9" name="Objective row"/>
          <p:cNvSpPr/>
          <p:nvPr/>
        </p:nvSpPr>
        <p:spPr>
          <a:xfrm>
            <a:off x="548640" y="1956816"/>
            <a:ext cx="8046720" cy="566928"/>
          </a:xfrm>
          <a:prstGeom prst="roundRect">
            <a:avLst>
              <a:gd name="adj" fmla="val 967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Number circle"/>
          <p:cNvSpPr/>
          <p:nvPr/>
        </p:nvSpPr>
        <p:spPr>
          <a:xfrm>
            <a:off x="713232" y="2057400"/>
            <a:ext cx="365760" cy="365760"/>
          </a:xfrm>
          <a:prstGeom prst="ellipse">
            <a:avLst/>
          </a:prstGeom>
          <a:solidFill>
            <a:schemeClr val="tx2"/>
          </a:solidFill>
          <a:ln w="12700">
            <a:solidFill>
              <a:schemeClr val="tx2"/>
            </a:solidFill>
            <a:prstDash val="solid"/>
          </a:ln>
        </p:spPr>
      </p:sp>
      <p:sp>
        <p:nvSpPr>
          <p:cNvPr id="11" name="Text 9"/>
          <p:cNvSpPr txBox="1"/>
          <p:nvPr/>
        </p:nvSpPr>
        <p:spPr>
          <a:xfrm>
            <a:off x="713232" y="205740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2" name="Text 10"/>
          <p:cNvSpPr txBox="1"/>
          <p:nvPr/>
        </p:nvSpPr>
        <p:spPr>
          <a:xfrm>
            <a:off x="1280160" y="1993392"/>
            <a:ext cx="7178040" cy="493776"/>
          </a:xfrm>
          <a:prstGeom prst="rect">
            <a:avLst/>
          </a:prstGeom>
          <a:noFill/>
          <a:ln/>
        </p:spPr>
        <p:txBody>
          <a:bodyPr wrap="square" lIns="0" tIns="0" rIns="0" bIns="0" rtlCol="0" anchor="ctr"/>
          <a:lstStyle/>
          <a:p>
            <a:pPr indent="0" marL="0">
              <a:buNone/>
            </a:pPr>
            <a:r>
              <a:rPr lang="en-US" sz="1400" dirty="0">
                <a:solidFill>
                  <a:schemeClr val="tx1"/>
                </a:solidFill>
              </a:rPr>
              <a:t>Implement FCFS, SSTF, SCAN, C-SCAN and LOOK behind one common interface.</a:t>
            </a:r>
            <a:endParaRPr lang="en-US" sz="1400" dirty="0"/>
          </a:p>
        </p:txBody>
      </p:sp>
      <p:sp>
        <p:nvSpPr>
          <p:cNvPr id="13" name="Objective row"/>
          <p:cNvSpPr/>
          <p:nvPr/>
        </p:nvSpPr>
        <p:spPr>
          <a:xfrm>
            <a:off x="548640" y="2633472"/>
            <a:ext cx="8046720" cy="566928"/>
          </a:xfrm>
          <a:prstGeom prst="roundRect">
            <a:avLst>
              <a:gd name="adj" fmla="val 967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Number circle"/>
          <p:cNvSpPr/>
          <p:nvPr/>
        </p:nvSpPr>
        <p:spPr>
          <a:xfrm>
            <a:off x="713232" y="2734056"/>
            <a:ext cx="365760" cy="365760"/>
          </a:xfrm>
          <a:prstGeom prst="ellipse">
            <a:avLst/>
          </a:prstGeom>
          <a:solidFill>
            <a:schemeClr val="tx2"/>
          </a:solidFill>
          <a:ln w="12700">
            <a:solidFill>
              <a:schemeClr val="tx2"/>
            </a:solidFill>
            <a:prstDash val="solid"/>
          </a:ln>
        </p:spPr>
      </p:sp>
      <p:sp>
        <p:nvSpPr>
          <p:cNvPr id="15" name="Text 13"/>
          <p:cNvSpPr txBox="1"/>
          <p:nvPr/>
        </p:nvSpPr>
        <p:spPr>
          <a:xfrm>
            <a:off x="713232" y="2734056"/>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6" name="Text 14"/>
          <p:cNvSpPr txBox="1"/>
          <p:nvPr/>
        </p:nvSpPr>
        <p:spPr>
          <a:xfrm>
            <a:off x="1280160" y="2670048"/>
            <a:ext cx="7178040" cy="493776"/>
          </a:xfrm>
          <a:prstGeom prst="rect">
            <a:avLst/>
          </a:prstGeom>
          <a:noFill/>
          <a:ln/>
        </p:spPr>
        <p:txBody>
          <a:bodyPr wrap="square" lIns="0" tIns="0" rIns="0" bIns="0" rtlCol="0" anchor="ctr"/>
          <a:lstStyle/>
          <a:p>
            <a:pPr indent="0" marL="0">
              <a:buNone/>
            </a:pPr>
            <a:r>
              <a:rPr lang="en-US" sz="1400" dirty="0">
                <a:solidFill>
                  <a:schemeClr val="tx1"/>
                </a:solidFill>
              </a:rPr>
              <a:t>Add a smart policy engine that switches algorithm by queue length, spread and request age.</a:t>
            </a:r>
            <a:endParaRPr lang="en-US" sz="1400" dirty="0"/>
          </a:p>
        </p:txBody>
      </p:sp>
      <p:sp>
        <p:nvSpPr>
          <p:cNvPr id="17" name="Objective row"/>
          <p:cNvSpPr/>
          <p:nvPr/>
        </p:nvSpPr>
        <p:spPr>
          <a:xfrm>
            <a:off x="548640" y="3310128"/>
            <a:ext cx="8046720" cy="566928"/>
          </a:xfrm>
          <a:prstGeom prst="roundRect">
            <a:avLst>
              <a:gd name="adj" fmla="val 967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8" name="Number circle"/>
          <p:cNvSpPr/>
          <p:nvPr/>
        </p:nvSpPr>
        <p:spPr>
          <a:xfrm>
            <a:off x="713232" y="3410712"/>
            <a:ext cx="365760" cy="365760"/>
          </a:xfrm>
          <a:prstGeom prst="ellipse">
            <a:avLst/>
          </a:prstGeom>
          <a:solidFill>
            <a:schemeClr val="tx2"/>
          </a:solidFill>
          <a:ln w="12700">
            <a:solidFill>
              <a:schemeClr val="tx2"/>
            </a:solidFill>
            <a:prstDash val="solid"/>
          </a:ln>
        </p:spPr>
      </p:sp>
      <p:sp>
        <p:nvSpPr>
          <p:cNvPr id="19" name="Text 17"/>
          <p:cNvSpPr txBox="1"/>
          <p:nvPr/>
        </p:nvSpPr>
        <p:spPr>
          <a:xfrm>
            <a:off x="713232" y="341071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0" name="Text 18"/>
          <p:cNvSpPr txBox="1"/>
          <p:nvPr/>
        </p:nvSpPr>
        <p:spPr>
          <a:xfrm>
            <a:off x="1280160" y="3346704"/>
            <a:ext cx="7178040" cy="493776"/>
          </a:xfrm>
          <a:prstGeom prst="rect">
            <a:avLst/>
          </a:prstGeom>
          <a:noFill/>
          <a:ln/>
        </p:spPr>
        <p:txBody>
          <a:bodyPr wrap="square" lIns="0" tIns="0" rIns="0" bIns="0" rtlCol="0" anchor="ctr"/>
          <a:lstStyle/>
          <a:p>
            <a:pPr indent="0" marL="0">
              <a:buNone/>
            </a:pPr>
            <a:r>
              <a:rPr lang="en-US" sz="1400" dirty="0">
                <a:solidFill>
                  <a:schemeClr val="tx1"/>
                </a:solidFill>
              </a:rPr>
              <a:t>Accept requests from client processes through a FIFO, and control the daemon with POSIX signals.</a:t>
            </a:r>
            <a:endParaRPr lang="en-US" sz="1400" dirty="0"/>
          </a:p>
        </p:txBody>
      </p:sp>
      <p:sp>
        <p:nvSpPr>
          <p:cNvPr id="21" name="Objective row"/>
          <p:cNvSpPr/>
          <p:nvPr/>
        </p:nvSpPr>
        <p:spPr>
          <a:xfrm>
            <a:off x="548640" y="3986784"/>
            <a:ext cx="8046720" cy="566928"/>
          </a:xfrm>
          <a:prstGeom prst="roundRect">
            <a:avLst>
              <a:gd name="adj" fmla="val 9677"/>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2" name="Number circle"/>
          <p:cNvSpPr/>
          <p:nvPr/>
        </p:nvSpPr>
        <p:spPr>
          <a:xfrm>
            <a:off x="713232" y="4087368"/>
            <a:ext cx="365760" cy="365760"/>
          </a:xfrm>
          <a:prstGeom prst="ellipse">
            <a:avLst/>
          </a:prstGeom>
          <a:solidFill>
            <a:schemeClr val="tx2"/>
          </a:solidFill>
          <a:ln w="12700">
            <a:solidFill>
              <a:schemeClr val="tx2"/>
            </a:solidFill>
            <a:prstDash val="solid"/>
          </a:ln>
        </p:spPr>
      </p:sp>
      <p:sp>
        <p:nvSpPr>
          <p:cNvPr id="23" name="Text 21"/>
          <p:cNvSpPr txBox="1"/>
          <p:nvPr/>
        </p:nvSpPr>
        <p:spPr>
          <a:xfrm>
            <a:off x="713232" y="4087368"/>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4" name="Text 22"/>
          <p:cNvSpPr txBox="1"/>
          <p:nvPr/>
        </p:nvSpPr>
        <p:spPr>
          <a:xfrm>
            <a:off x="1280160" y="4023360"/>
            <a:ext cx="7178040" cy="493776"/>
          </a:xfrm>
          <a:prstGeom prst="rect">
            <a:avLst/>
          </a:prstGeom>
          <a:noFill/>
          <a:ln/>
        </p:spPr>
        <p:txBody>
          <a:bodyPr wrap="square" lIns="0" tIns="0" rIns="0" bIns="0" rtlCol="0" anchor="ctr"/>
          <a:lstStyle/>
          <a:p>
            <a:pPr indent="0" marL="0">
              <a:buNone/>
            </a:pPr>
            <a:r>
              <a:rPr lang="en-US" sz="1400" dirty="0">
                <a:solidFill>
                  <a:schemeClr val="tx1"/>
                </a:solidFill>
              </a:rPr>
              <a:t>Protect the shared queue with pthreads, mutexes, condition variables and semaphores.</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ag"/>
          <p:cNvSpPr/>
          <p:nvPr/>
        </p:nvSpPr>
        <p:spPr>
          <a:xfrm>
            <a:off x="548640" y="256032"/>
            <a:ext cx="1984248"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984248"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04  BACKGROUND</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Why Disk Scheduling Matters</a:t>
            </a:r>
            <a:endParaRPr lang="en-US" sz="2800" dirty="0"/>
          </a:p>
        </p:txBody>
      </p:sp>
      <p:sp>
        <p:nvSpPr>
          <p:cNvPr id="5" name="Callout"/>
          <p:cNvSpPr/>
          <p:nvPr/>
        </p:nvSpPr>
        <p:spPr>
          <a:xfrm>
            <a:off x="548640" y="1280160"/>
            <a:ext cx="8046720" cy="685800"/>
          </a:xfrm>
          <a:prstGeom prst="roundRect">
            <a:avLst>
              <a:gd name="adj" fmla="val 10667"/>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777240" y="1463040"/>
            <a:ext cx="320040" cy="320040"/>
          </a:xfrm>
          <a:prstGeom prst="rect">
            <a:avLst/>
          </a:prstGeom>
        </p:spPr>
      </p:pic>
      <p:sp>
        <p:nvSpPr>
          <p:cNvPr id="7" name="Text 4"/>
          <p:cNvSpPr txBox="1"/>
          <p:nvPr/>
        </p:nvSpPr>
        <p:spPr>
          <a:xfrm>
            <a:off x="1325880" y="1280160"/>
            <a:ext cx="7132320" cy="685800"/>
          </a:xfrm>
          <a:prstGeom prst="rect">
            <a:avLst/>
          </a:prstGeom>
          <a:noFill/>
          <a:ln/>
        </p:spPr>
        <p:txBody>
          <a:bodyPr wrap="square" lIns="0" tIns="0" rIns="0" bIns="0" rtlCol="0" anchor="ctr"/>
          <a:lstStyle/>
          <a:p>
            <a:pPr indent="0" marL="0">
              <a:buNone/>
            </a:pPr>
            <a:r>
              <a:rPr lang="en-US" sz="1400" b="1" dirty="0">
                <a:solidFill>
                  <a:schemeClr val="accent1"/>
                </a:solidFill>
              </a:rPr>
              <a:t>Access time = Seek + Rotation + Transfer. </a:t>
            </a:r>
            <a:pPr indent="0" marL="0">
              <a:buNone/>
            </a:pPr>
            <a:r>
              <a:rPr lang="en-US" sz="1400" dirty="0">
                <a:solidFill>
                  <a:schemeClr val="bg1"/>
                </a:solidFill>
              </a:rPr>
              <a:t>Seek dominates, so reordering requests saves the most time.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8046720" cy="914400"/>
        </p:xfrm>
        <a:graphic>
          <a:graphicData uri="http://schemas.openxmlformats.org/drawingml/2006/table">
            <a:tbl>
              <a:tblPr/>
              <a:tblGrid>
                <a:gridCol w="1371600"/>
                <a:gridCol w="3566160"/>
                <a:gridCol w="3108960"/>
              </a:tblGrid>
              <a:tr h="393192">
                <a:tc>
                  <a:txBody>
                    <a:bodyPr/>
                    <a:lstStyle/>
                    <a:p>
                      <a:pPr indent="0" marL="0">
                        <a:buNone/>
                      </a:pPr>
                      <a:r>
                        <a:rPr lang="en-US" sz="1400" b="1" dirty="0">
                          <a:solidFill>
                            <a:schemeClr val="bg1"/>
                          </a:solidFill>
                        </a:rPr>
                        <a:t>Algorithm</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Idea</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Drawback</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tr>
              <a:tr h="393192">
                <a:tc>
                  <a:txBody>
                    <a:bodyPr/>
                    <a:lstStyle/>
                    <a:p>
                      <a:pPr indent="0" marL="0">
                        <a:buNone/>
                      </a:pPr>
                      <a:r>
                        <a:rPr lang="en-US" sz="1400" b="1" dirty="0">
                          <a:solidFill>
                            <a:schemeClr val="tx2"/>
                          </a:solidFill>
                        </a:rPr>
                        <a:t>FCFS</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Serve in arrival order</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Long seeks, high movement</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393192">
                <a:tc>
                  <a:txBody>
                    <a:bodyPr/>
                    <a:lstStyle/>
                    <a:p>
                      <a:pPr indent="0" marL="0">
                        <a:buNone/>
                      </a:pPr>
                      <a:r>
                        <a:rPr lang="en-US" sz="1400" b="1" dirty="0">
                          <a:solidFill>
                            <a:schemeClr val="tx2"/>
                          </a:solidFill>
                        </a:rPr>
                        <a:t>SSTF</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Nearest cylinder first</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Far requests can starve</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393192">
                <a:tc>
                  <a:txBody>
                    <a:bodyPr/>
                    <a:lstStyle/>
                    <a:p>
                      <a:pPr indent="0" marL="0">
                        <a:buNone/>
                      </a:pPr>
                      <a:r>
                        <a:rPr lang="en-US" sz="1400" b="1" dirty="0">
                          <a:solidFill>
                            <a:schemeClr val="tx2"/>
                          </a:solidFill>
                        </a:rPr>
                        <a:t>SCAN</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Sweep end to end like a lift</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Waits at the turnaround</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393192">
                <a:tc>
                  <a:txBody>
                    <a:bodyPr/>
                    <a:lstStyle/>
                    <a:p>
                      <a:pPr indent="0" marL="0">
                        <a:buNone/>
                      </a:pPr>
                      <a:r>
                        <a:rPr lang="en-US" sz="1400" b="1" dirty="0">
                          <a:solidFill>
                            <a:schemeClr val="tx2"/>
                          </a:solidFill>
                        </a:rPr>
                        <a:t>C-SCAN</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One-way sweep, jump back</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Longer total travel</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393192">
                <a:tc>
                  <a:txBody>
                    <a:bodyPr/>
                    <a:lstStyle/>
                    <a:p>
                      <a:pPr indent="0" marL="0">
                        <a:buNone/>
                      </a:pPr>
                      <a:r>
                        <a:rPr lang="en-US" sz="1400" b="1" dirty="0">
                          <a:solidFill>
                            <a:schemeClr val="tx2"/>
                          </a:solidFill>
                        </a:rPr>
                        <a:t>LOOK</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SCAN that reverses at last request</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Slightly uneven at the ends</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ag"/>
          <p:cNvSpPr/>
          <p:nvPr/>
        </p:nvSpPr>
        <p:spPr>
          <a:xfrm>
            <a:off x="548640" y="256032"/>
            <a:ext cx="2221992"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2221992"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05  ARCHITECTURE</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System Architecture</a:t>
            </a:r>
            <a:endParaRPr lang="en-US" sz="2800" dirty="0"/>
          </a:p>
        </p:txBody>
      </p:sp>
      <p:sp>
        <p:nvSpPr>
          <p:cNvPr id="5" name="Block"/>
          <p:cNvSpPr/>
          <p:nvPr/>
        </p:nvSpPr>
        <p:spPr>
          <a:xfrm>
            <a:off x="548640" y="1600200"/>
            <a:ext cx="1463040" cy="502920"/>
          </a:xfrm>
          <a:prstGeom prst="roundRect">
            <a:avLst>
              <a:gd name="adj" fmla="val 10909"/>
            </a:avLst>
          </a:prstGeom>
          <a:solidFill>
            <a:schemeClr val="bg1"/>
          </a:solidFill>
          <a:ln w="12700">
            <a:solidFill>
              <a:schemeClr val="accent2"/>
            </a:solidFill>
            <a:prstDash val="solid"/>
          </a:ln>
        </p:spPr>
      </p:sp>
      <p:sp>
        <p:nvSpPr>
          <p:cNvPr id="6" name="Text 4"/>
          <p:cNvSpPr txBox="1"/>
          <p:nvPr/>
        </p:nvSpPr>
        <p:spPr>
          <a:xfrm>
            <a:off x="594360" y="1600200"/>
            <a:ext cx="1371600" cy="502920"/>
          </a:xfrm>
          <a:prstGeom prst="rect">
            <a:avLst/>
          </a:prstGeom>
          <a:noFill/>
          <a:ln/>
        </p:spPr>
        <p:txBody>
          <a:bodyPr wrap="square" lIns="0" tIns="0" rIns="0" bIns="0" rtlCol="0" anchor="ctr"/>
          <a:lstStyle/>
          <a:p>
            <a:pPr algn="ctr" indent="0" marL="0">
              <a:buNone/>
            </a:pPr>
            <a:r>
              <a:rPr lang="en-US" sz="1400" b="1" dirty="0">
                <a:solidFill>
                  <a:schemeClr val="tx2"/>
                </a:solidFill>
              </a:rPr>
              <a:t>Client 1</a:t>
            </a:r>
            <a:endParaRPr lang="en-US" sz="1400" dirty="0"/>
          </a:p>
        </p:txBody>
      </p:sp>
      <p:sp>
        <p:nvSpPr>
          <p:cNvPr id="7" name="Shape 5"/>
          <p:cNvSpPr/>
          <p:nvPr/>
        </p:nvSpPr>
        <p:spPr>
          <a:xfrm>
            <a:off x="2011680" y="1851660"/>
            <a:ext cx="457200" cy="0"/>
          </a:xfrm>
          <a:prstGeom prst="line">
            <a:avLst/>
          </a:prstGeom>
          <a:noFill/>
          <a:ln w="25400">
            <a:solidFill>
              <a:schemeClr val="accent1"/>
            </a:solidFill>
            <a:prstDash val="solid"/>
            <a:tailEnd type="triangle"/>
          </a:ln>
        </p:spPr>
      </p:sp>
      <p:sp>
        <p:nvSpPr>
          <p:cNvPr id="8" name="Block"/>
          <p:cNvSpPr/>
          <p:nvPr/>
        </p:nvSpPr>
        <p:spPr>
          <a:xfrm>
            <a:off x="548640" y="2331720"/>
            <a:ext cx="1463040" cy="502920"/>
          </a:xfrm>
          <a:prstGeom prst="roundRect">
            <a:avLst>
              <a:gd name="adj" fmla="val 10909"/>
            </a:avLst>
          </a:prstGeom>
          <a:solidFill>
            <a:schemeClr val="bg1"/>
          </a:solidFill>
          <a:ln w="12700">
            <a:solidFill>
              <a:schemeClr val="accent2"/>
            </a:solidFill>
            <a:prstDash val="solid"/>
          </a:ln>
        </p:spPr>
      </p:sp>
      <p:sp>
        <p:nvSpPr>
          <p:cNvPr id="9" name="Text 7"/>
          <p:cNvSpPr txBox="1"/>
          <p:nvPr/>
        </p:nvSpPr>
        <p:spPr>
          <a:xfrm>
            <a:off x="594360" y="2331720"/>
            <a:ext cx="1371600" cy="502920"/>
          </a:xfrm>
          <a:prstGeom prst="rect">
            <a:avLst/>
          </a:prstGeom>
          <a:noFill/>
          <a:ln/>
        </p:spPr>
        <p:txBody>
          <a:bodyPr wrap="square" lIns="0" tIns="0" rIns="0" bIns="0" rtlCol="0" anchor="ctr"/>
          <a:lstStyle/>
          <a:p>
            <a:pPr algn="ctr" indent="0" marL="0">
              <a:buNone/>
            </a:pPr>
            <a:r>
              <a:rPr lang="en-US" sz="1400" b="1" dirty="0">
                <a:solidFill>
                  <a:schemeClr val="tx2"/>
                </a:solidFill>
              </a:rPr>
              <a:t>Client 2</a:t>
            </a:r>
            <a:endParaRPr lang="en-US" sz="1400" dirty="0"/>
          </a:p>
        </p:txBody>
      </p:sp>
      <p:sp>
        <p:nvSpPr>
          <p:cNvPr id="10" name="Shape 8"/>
          <p:cNvSpPr/>
          <p:nvPr/>
        </p:nvSpPr>
        <p:spPr>
          <a:xfrm>
            <a:off x="2011680" y="2583180"/>
            <a:ext cx="457200" cy="0"/>
          </a:xfrm>
          <a:prstGeom prst="line">
            <a:avLst/>
          </a:prstGeom>
          <a:noFill/>
          <a:ln w="25400">
            <a:solidFill>
              <a:schemeClr val="accent1"/>
            </a:solidFill>
            <a:prstDash val="solid"/>
            <a:tailEnd type="triangle"/>
          </a:ln>
        </p:spPr>
      </p:sp>
      <p:sp>
        <p:nvSpPr>
          <p:cNvPr id="11" name="Block"/>
          <p:cNvSpPr/>
          <p:nvPr/>
        </p:nvSpPr>
        <p:spPr>
          <a:xfrm>
            <a:off x="548640" y="3063240"/>
            <a:ext cx="1463040" cy="502920"/>
          </a:xfrm>
          <a:prstGeom prst="roundRect">
            <a:avLst>
              <a:gd name="adj" fmla="val 10909"/>
            </a:avLst>
          </a:prstGeom>
          <a:solidFill>
            <a:schemeClr val="bg1"/>
          </a:solidFill>
          <a:ln w="12700">
            <a:solidFill>
              <a:schemeClr val="accent2"/>
            </a:solidFill>
            <a:prstDash val="solid"/>
          </a:ln>
        </p:spPr>
      </p:sp>
      <p:sp>
        <p:nvSpPr>
          <p:cNvPr id="12" name="Text 10"/>
          <p:cNvSpPr txBox="1"/>
          <p:nvPr/>
        </p:nvSpPr>
        <p:spPr>
          <a:xfrm>
            <a:off x="594360" y="3063240"/>
            <a:ext cx="1371600" cy="502920"/>
          </a:xfrm>
          <a:prstGeom prst="rect">
            <a:avLst/>
          </a:prstGeom>
          <a:noFill/>
          <a:ln/>
        </p:spPr>
        <p:txBody>
          <a:bodyPr wrap="square" lIns="0" tIns="0" rIns="0" bIns="0" rtlCol="0" anchor="ctr"/>
          <a:lstStyle/>
          <a:p>
            <a:pPr algn="ctr" indent="0" marL="0">
              <a:buNone/>
            </a:pPr>
            <a:r>
              <a:rPr lang="en-US" sz="1400" b="1" dirty="0">
                <a:solidFill>
                  <a:schemeClr val="tx2"/>
                </a:solidFill>
              </a:rPr>
              <a:t>Client 3</a:t>
            </a:r>
            <a:endParaRPr lang="en-US" sz="1400" dirty="0"/>
          </a:p>
        </p:txBody>
      </p:sp>
      <p:sp>
        <p:nvSpPr>
          <p:cNvPr id="13" name="Shape 11"/>
          <p:cNvSpPr/>
          <p:nvPr/>
        </p:nvSpPr>
        <p:spPr>
          <a:xfrm>
            <a:off x="2011680" y="3314700"/>
            <a:ext cx="457200" cy="0"/>
          </a:xfrm>
          <a:prstGeom prst="line">
            <a:avLst/>
          </a:prstGeom>
          <a:noFill/>
          <a:ln w="25400">
            <a:solidFill>
              <a:schemeClr val="accent1"/>
            </a:solidFill>
            <a:prstDash val="solid"/>
            <a:tailEnd type="triangle"/>
          </a:ln>
        </p:spPr>
      </p:sp>
      <p:sp>
        <p:nvSpPr>
          <p:cNvPr id="14" name="Block"/>
          <p:cNvSpPr/>
          <p:nvPr/>
        </p:nvSpPr>
        <p:spPr>
          <a:xfrm>
            <a:off x="2468880" y="1600200"/>
            <a:ext cx="1371600" cy="1965960"/>
          </a:xfrm>
          <a:prstGeom prst="roundRect">
            <a:avLst>
              <a:gd name="adj" fmla="val 4000"/>
            </a:avLst>
          </a:prstGeom>
          <a:solidFill>
            <a:schemeClr val="bg1"/>
          </a:solidFill>
          <a:ln w="12700">
            <a:solidFill>
              <a:schemeClr val="accent2"/>
            </a:solidFill>
            <a:prstDash val="solid"/>
          </a:ln>
        </p:spPr>
      </p:sp>
      <p:sp>
        <p:nvSpPr>
          <p:cNvPr id="15" name="Text 13"/>
          <p:cNvSpPr txBox="1"/>
          <p:nvPr/>
        </p:nvSpPr>
        <p:spPr>
          <a:xfrm>
            <a:off x="2514600" y="1600200"/>
            <a:ext cx="1280160" cy="1965960"/>
          </a:xfrm>
          <a:prstGeom prst="rect">
            <a:avLst/>
          </a:prstGeom>
          <a:noFill/>
          <a:ln/>
        </p:spPr>
        <p:txBody>
          <a:bodyPr wrap="square" lIns="0" tIns="0" rIns="0" bIns="0" rtlCol="0" anchor="ctr"/>
          <a:lstStyle/>
          <a:p>
            <a:pPr algn="ctr" indent="0" marL="0">
              <a:buNone/>
            </a:pPr>
            <a:r>
              <a:rPr lang="en-US" sz="1400" b="1" dirty="0">
                <a:solidFill>
                  <a:schemeClr val="tx2"/>
                </a:solidFill>
              </a:rPr>
              <a:t>Named pipe</a:t>
            </a:r>
            <a:endParaRPr lang="en-US" sz="1400" dirty="0"/>
          </a:p>
          <a:p>
            <a:pPr algn="ctr" indent="0" marL="0">
              <a:buNone/>
            </a:pPr>
            <a:r>
              <a:rPr lang="en-US" sz="1400" b="1" dirty="0">
                <a:solidFill>
                  <a:schemeClr val="tx2"/>
                </a:solidFill>
              </a:rPr>
              <a:t>(FIFO)</a:t>
            </a:r>
            <a:endParaRPr lang="en-US" sz="1400" dirty="0"/>
          </a:p>
        </p:txBody>
      </p:sp>
      <p:sp>
        <p:nvSpPr>
          <p:cNvPr id="16" name="Shape 14"/>
          <p:cNvSpPr/>
          <p:nvPr/>
        </p:nvSpPr>
        <p:spPr>
          <a:xfrm>
            <a:off x="3840480" y="2583180"/>
            <a:ext cx="457200" cy="0"/>
          </a:xfrm>
          <a:prstGeom prst="line">
            <a:avLst/>
          </a:prstGeom>
          <a:noFill/>
          <a:ln w="25400">
            <a:solidFill>
              <a:schemeClr val="accent1"/>
            </a:solidFill>
            <a:prstDash val="solid"/>
            <a:tailEnd type="triangle"/>
          </a:ln>
        </p:spPr>
      </p:sp>
      <p:sp>
        <p:nvSpPr>
          <p:cNvPr id="17" name="Daemon container"/>
          <p:cNvSpPr/>
          <p:nvPr/>
        </p:nvSpPr>
        <p:spPr>
          <a:xfrm>
            <a:off x="4297680" y="1325880"/>
            <a:ext cx="2651760" cy="2606040"/>
          </a:xfrm>
          <a:prstGeom prst="roundRect">
            <a:avLst>
              <a:gd name="adj" fmla="val 2807"/>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4297680" y="1389888"/>
            <a:ext cx="2651760" cy="274320"/>
          </a:xfrm>
          <a:prstGeom prst="rect">
            <a:avLst/>
          </a:prstGeom>
          <a:noFill/>
          <a:ln/>
        </p:spPr>
        <p:txBody>
          <a:bodyPr wrap="square" lIns="0" tIns="0" rIns="0" bIns="0" rtlCol="0" anchor="ctr"/>
          <a:lstStyle/>
          <a:p>
            <a:pPr algn="ctr" indent="0" marL="0">
              <a:buNone/>
            </a:pPr>
            <a:r>
              <a:rPr lang="en-US" sz="1200" b="1" dirty="0">
                <a:solidFill>
                  <a:schemeClr val="accent1"/>
                </a:solidFill>
              </a:rPr>
              <a:t>Scheduler daemon (user space)</a:t>
            </a:r>
            <a:endParaRPr lang="en-US" sz="1200" dirty="0"/>
          </a:p>
        </p:txBody>
      </p:sp>
      <p:sp>
        <p:nvSpPr>
          <p:cNvPr id="19" name="Block"/>
          <p:cNvSpPr/>
          <p:nvPr/>
        </p:nvSpPr>
        <p:spPr>
          <a:xfrm>
            <a:off x="4480560" y="1783080"/>
            <a:ext cx="2286000" cy="548640"/>
          </a:xfrm>
          <a:prstGeom prst="roundRect">
            <a:avLst>
              <a:gd name="adj" fmla="val 10000"/>
            </a:avLst>
          </a:prstGeom>
          <a:solidFill>
            <a:schemeClr val="accent2"/>
          </a:solidFill>
          <a:ln w="12700">
            <a:solidFill>
              <a:schemeClr val="accent2"/>
            </a:solidFill>
            <a:prstDash val="solid"/>
          </a:ln>
        </p:spPr>
      </p:sp>
      <p:sp>
        <p:nvSpPr>
          <p:cNvPr id="20" name="Text 18"/>
          <p:cNvSpPr txBox="1"/>
          <p:nvPr/>
        </p:nvSpPr>
        <p:spPr>
          <a:xfrm>
            <a:off x="4526280" y="1783080"/>
            <a:ext cx="2194560" cy="548640"/>
          </a:xfrm>
          <a:prstGeom prst="rect">
            <a:avLst/>
          </a:prstGeom>
          <a:noFill/>
          <a:ln/>
        </p:spPr>
        <p:txBody>
          <a:bodyPr wrap="square" lIns="0" tIns="0" rIns="0" bIns="0" rtlCol="0" anchor="ctr"/>
          <a:lstStyle/>
          <a:p>
            <a:pPr algn="ctr" indent="0" marL="0">
              <a:buNone/>
            </a:pPr>
            <a:r>
              <a:rPr lang="en-US" sz="1400" b="1" dirty="0">
                <a:solidFill>
                  <a:schemeClr val="bg1"/>
                </a:solidFill>
              </a:rPr>
              <a:t>Request queue + mutex</a:t>
            </a:r>
            <a:endParaRPr lang="en-US" sz="1400" dirty="0"/>
          </a:p>
        </p:txBody>
      </p:sp>
      <p:sp>
        <p:nvSpPr>
          <p:cNvPr id="21" name="Block"/>
          <p:cNvSpPr/>
          <p:nvPr/>
        </p:nvSpPr>
        <p:spPr>
          <a:xfrm>
            <a:off x="4480560" y="2468880"/>
            <a:ext cx="2286000" cy="548640"/>
          </a:xfrm>
          <a:prstGeom prst="roundRect">
            <a:avLst>
              <a:gd name="adj" fmla="val 10000"/>
            </a:avLst>
          </a:prstGeom>
          <a:solidFill>
            <a:schemeClr val="accent1"/>
          </a:solidFill>
          <a:ln w="12700">
            <a:solidFill>
              <a:schemeClr val="accent2"/>
            </a:solidFill>
            <a:prstDash val="solid"/>
          </a:ln>
        </p:spPr>
      </p:sp>
      <p:sp>
        <p:nvSpPr>
          <p:cNvPr id="22" name="Text 20"/>
          <p:cNvSpPr txBox="1"/>
          <p:nvPr/>
        </p:nvSpPr>
        <p:spPr>
          <a:xfrm>
            <a:off x="4526280" y="2468880"/>
            <a:ext cx="2194560" cy="548640"/>
          </a:xfrm>
          <a:prstGeom prst="rect">
            <a:avLst/>
          </a:prstGeom>
          <a:noFill/>
          <a:ln/>
        </p:spPr>
        <p:txBody>
          <a:bodyPr wrap="square" lIns="0" tIns="0" rIns="0" bIns="0" rtlCol="0" anchor="ctr"/>
          <a:lstStyle/>
          <a:p>
            <a:pPr algn="ctr" indent="0" marL="0">
              <a:buNone/>
            </a:pPr>
            <a:r>
              <a:rPr lang="en-US" sz="1400" b="1" dirty="0">
                <a:solidFill>
                  <a:schemeClr val="tx2"/>
                </a:solidFill>
              </a:rPr>
              <a:t>Smart policy engine</a:t>
            </a:r>
            <a:endParaRPr lang="en-US" sz="1400" dirty="0"/>
          </a:p>
        </p:txBody>
      </p:sp>
      <p:sp>
        <p:nvSpPr>
          <p:cNvPr id="23" name="Block"/>
          <p:cNvSpPr/>
          <p:nvPr/>
        </p:nvSpPr>
        <p:spPr>
          <a:xfrm>
            <a:off x="4480560" y="3154680"/>
            <a:ext cx="2286000" cy="548640"/>
          </a:xfrm>
          <a:prstGeom prst="roundRect">
            <a:avLst>
              <a:gd name="adj" fmla="val 10000"/>
            </a:avLst>
          </a:prstGeom>
          <a:solidFill>
            <a:schemeClr val="accent2"/>
          </a:solidFill>
          <a:ln w="12700">
            <a:solidFill>
              <a:schemeClr val="accent2"/>
            </a:solidFill>
            <a:prstDash val="solid"/>
          </a:ln>
        </p:spPr>
      </p:sp>
      <p:sp>
        <p:nvSpPr>
          <p:cNvPr id="24" name="Text 22"/>
          <p:cNvSpPr txBox="1"/>
          <p:nvPr/>
        </p:nvSpPr>
        <p:spPr>
          <a:xfrm>
            <a:off x="4526280" y="3154680"/>
            <a:ext cx="2194560" cy="548640"/>
          </a:xfrm>
          <a:prstGeom prst="rect">
            <a:avLst/>
          </a:prstGeom>
          <a:noFill/>
          <a:ln/>
        </p:spPr>
        <p:txBody>
          <a:bodyPr wrap="square" lIns="0" tIns="0" rIns="0" bIns="0" rtlCol="0" anchor="ctr"/>
          <a:lstStyle/>
          <a:p>
            <a:pPr algn="ctr" indent="0" marL="0">
              <a:buNone/>
            </a:pPr>
            <a:r>
              <a:rPr lang="en-US" sz="1400" b="1" dirty="0">
                <a:solidFill>
                  <a:schemeClr val="bg1"/>
                </a:solidFill>
              </a:rPr>
              <a:t>Dispatcher thread</a:t>
            </a:r>
            <a:endParaRPr lang="en-US" sz="1400" dirty="0"/>
          </a:p>
        </p:txBody>
      </p:sp>
      <p:sp>
        <p:nvSpPr>
          <p:cNvPr id="25" name="Shape 23"/>
          <p:cNvSpPr/>
          <p:nvPr/>
        </p:nvSpPr>
        <p:spPr>
          <a:xfrm>
            <a:off x="6949440" y="2583180"/>
            <a:ext cx="411480" cy="0"/>
          </a:xfrm>
          <a:prstGeom prst="line">
            <a:avLst/>
          </a:prstGeom>
          <a:noFill/>
          <a:ln w="25400">
            <a:solidFill>
              <a:schemeClr val="accent1"/>
            </a:solidFill>
            <a:prstDash val="solid"/>
            <a:tailEnd type="triangle"/>
          </a:ln>
        </p:spPr>
      </p:sp>
      <p:sp>
        <p:nvSpPr>
          <p:cNvPr id="26" name="Block"/>
          <p:cNvSpPr/>
          <p:nvPr/>
        </p:nvSpPr>
        <p:spPr>
          <a:xfrm>
            <a:off x="7360920" y="2011680"/>
            <a:ext cx="1234440" cy="1143000"/>
          </a:xfrm>
          <a:prstGeom prst="roundRect">
            <a:avLst>
              <a:gd name="adj" fmla="val 4800"/>
            </a:avLst>
          </a:prstGeom>
          <a:solidFill>
            <a:schemeClr val="bg1"/>
          </a:solidFill>
          <a:ln w="12700">
            <a:solidFill>
              <a:schemeClr val="accent2"/>
            </a:solidFill>
            <a:prstDash val="solid"/>
          </a:ln>
        </p:spPr>
      </p:sp>
      <p:sp>
        <p:nvSpPr>
          <p:cNvPr id="27" name="Text 25"/>
          <p:cNvSpPr txBox="1"/>
          <p:nvPr/>
        </p:nvSpPr>
        <p:spPr>
          <a:xfrm>
            <a:off x="7406640" y="2011680"/>
            <a:ext cx="1143000" cy="1143000"/>
          </a:xfrm>
          <a:prstGeom prst="rect">
            <a:avLst/>
          </a:prstGeom>
          <a:noFill/>
          <a:ln/>
        </p:spPr>
        <p:txBody>
          <a:bodyPr wrap="square" lIns="0" tIns="0" rIns="0" bIns="0" rtlCol="0" anchor="ctr"/>
          <a:lstStyle/>
          <a:p>
            <a:pPr algn="ctr" indent="0" marL="0">
              <a:buNone/>
            </a:pPr>
            <a:r>
              <a:rPr lang="en-US" sz="1400" b="1" dirty="0">
                <a:solidFill>
                  <a:schemeClr val="tx2"/>
                </a:solidFill>
              </a:rPr>
              <a:t>Disk image</a:t>
            </a:r>
            <a:endParaRPr lang="en-US" sz="1400" dirty="0"/>
          </a:p>
          <a:p>
            <a:pPr algn="ctr" indent="0" marL="0">
              <a:buNone/>
            </a:pPr>
            <a:r>
              <a:rPr lang="en-US" sz="1400" b="1" dirty="0">
                <a:solidFill>
                  <a:schemeClr val="tx2"/>
                </a:solidFill>
              </a:rPr>
              <a:t>file</a:t>
            </a:r>
            <a:endParaRPr lang="en-US" sz="1400" dirty="0"/>
          </a:p>
        </p:txBody>
      </p:sp>
      <p:sp>
        <p:nvSpPr>
          <p:cNvPr id="28" name="Shell box"/>
          <p:cNvSpPr/>
          <p:nvPr/>
        </p:nvSpPr>
        <p:spPr>
          <a:xfrm>
            <a:off x="4297680" y="4114800"/>
            <a:ext cx="2651760" cy="457200"/>
          </a:xfrm>
          <a:prstGeom prst="roundRect">
            <a:avLst>
              <a:gd name="adj" fmla="val 12000"/>
            </a:avLst>
          </a:prstGeom>
          <a:solidFill>
            <a:schemeClr val="bg1"/>
          </a:solidFill>
          <a:ln w="12700">
            <a:solidFill>
              <a:schemeClr val="accent2"/>
            </a:solidFill>
            <a:prstDash val="solid"/>
          </a:ln>
        </p:spPr>
      </p:sp>
      <p:sp>
        <p:nvSpPr>
          <p:cNvPr id="29" name="Text 27"/>
          <p:cNvSpPr txBox="1"/>
          <p:nvPr/>
        </p:nvSpPr>
        <p:spPr>
          <a:xfrm>
            <a:off x="4297680" y="4114800"/>
            <a:ext cx="2651760" cy="457200"/>
          </a:xfrm>
          <a:prstGeom prst="rect">
            <a:avLst/>
          </a:prstGeom>
          <a:noFill/>
          <a:ln/>
        </p:spPr>
        <p:txBody>
          <a:bodyPr wrap="square" lIns="0" tIns="0" rIns="0" bIns="0" rtlCol="0" anchor="ctr"/>
          <a:lstStyle/>
          <a:p>
            <a:pPr algn="ctr" indent="0" marL="0">
              <a:buNone/>
            </a:pPr>
            <a:r>
              <a:rPr lang="en-US" sz="1400" b="1" dirty="0">
                <a:solidFill>
                  <a:schemeClr val="tx2"/>
                </a:solidFill>
              </a:rPr>
              <a:t>Shell: SIGUSR1 / SIGINT</a:t>
            </a:r>
            <a:endParaRPr lang="en-US" sz="1400" dirty="0"/>
          </a:p>
        </p:txBody>
      </p:sp>
      <p:sp>
        <p:nvSpPr>
          <p:cNvPr id="30" name="Shape 28"/>
          <p:cNvSpPr/>
          <p:nvPr/>
        </p:nvSpPr>
        <p:spPr>
          <a:xfrm>
            <a:off x="5623560" y="4114800"/>
            <a:ext cx="0" cy="-182880"/>
          </a:xfrm>
          <a:prstGeom prst="line">
            <a:avLst/>
          </a:prstGeom>
          <a:noFill/>
          <a:ln w="25400">
            <a:solidFill>
              <a:schemeClr val="accent1"/>
            </a:solidFill>
            <a:prstDash val="solid"/>
            <a:tailEnd type="triangle"/>
          </a:ln>
        </p:spPr>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ag"/>
          <p:cNvSpPr/>
          <p:nvPr/>
        </p:nvSpPr>
        <p:spPr>
          <a:xfrm>
            <a:off x="548640" y="256032"/>
            <a:ext cx="2221992"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2221992"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06  SMART POLICY</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bg1"/>
                </a:solidFill>
              </a:rPr>
              <a:t>Smart Policy Selection</a:t>
            </a:r>
            <a:endParaRPr lang="en-US" sz="2800" dirty="0"/>
          </a:p>
        </p:txBody>
      </p:sp>
      <p:sp>
        <p:nvSpPr>
          <p:cNvPr id="5" name="Rule card"/>
          <p:cNvSpPr/>
          <p:nvPr/>
        </p:nvSpPr>
        <p:spPr>
          <a:xfrm>
            <a:off x="548640" y="1325880"/>
            <a:ext cx="3931920" cy="1371600"/>
          </a:xfrm>
          <a:prstGeom prst="roundRect">
            <a:avLst>
              <a:gd name="adj" fmla="val 5333"/>
            </a:avLst>
          </a:prstGeom>
          <a:solidFill>
            <a:schemeClr val="accent2"/>
          </a:solidFill>
          <a:ln w="12700">
            <a:solidFill>
              <a:schemeClr val="accent2"/>
            </a:solidFill>
            <a:prstDash val="solid"/>
          </a:ln>
        </p:spPr>
      </p:sp>
      <p:sp>
        <p:nvSpPr>
          <p:cNvPr id="6" name="Text 4"/>
          <p:cNvSpPr txBox="1"/>
          <p:nvPr/>
        </p:nvSpPr>
        <p:spPr>
          <a:xfrm>
            <a:off x="777240" y="1435608"/>
            <a:ext cx="3474720" cy="1152144"/>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Light load: 2 or fewer pending</a:t>
            </a:r>
            <a:endParaRPr lang="en-US" sz="1500" dirty="0"/>
          </a:p>
          <a:p>
            <a:pPr indent="0" marL="0">
              <a:spcAft>
                <a:spcPts val="400"/>
              </a:spcAft>
              <a:buNone/>
            </a:pPr>
            <a:r>
              <a:rPr lang="en-US" sz="1500" b="1" dirty="0">
                <a:solidFill>
                  <a:schemeClr val="accent1"/>
                </a:solidFill>
              </a:rPr>
              <a:t>Use FCFS</a:t>
            </a:r>
            <a:endParaRPr lang="en-US" sz="1500" dirty="0"/>
          </a:p>
          <a:p>
            <a:pPr indent="0" marL="0">
              <a:spcAft>
                <a:spcPts val="400"/>
              </a:spcAft>
              <a:buNone/>
            </a:pPr>
            <a:r>
              <a:rPr lang="en-US" sz="1400" dirty="0">
                <a:solidFill>
                  <a:schemeClr val="accent4"/>
                </a:solidFill>
              </a:rPr>
              <a:t>No reordering cost; arrival order is already fine.</a:t>
            </a:r>
            <a:endParaRPr lang="en-US" sz="1500" dirty="0"/>
          </a:p>
        </p:txBody>
      </p:sp>
      <p:sp>
        <p:nvSpPr>
          <p:cNvPr id="7" name="Rule card"/>
          <p:cNvSpPr/>
          <p:nvPr/>
        </p:nvSpPr>
        <p:spPr>
          <a:xfrm>
            <a:off x="4663440" y="1325880"/>
            <a:ext cx="3931920" cy="1371600"/>
          </a:xfrm>
          <a:prstGeom prst="roundRect">
            <a:avLst>
              <a:gd name="adj" fmla="val 5333"/>
            </a:avLst>
          </a:prstGeom>
          <a:solidFill>
            <a:schemeClr val="accent2"/>
          </a:solidFill>
          <a:ln w="12700">
            <a:solidFill>
              <a:schemeClr val="accent2"/>
            </a:solidFill>
            <a:prstDash val="solid"/>
          </a:ln>
        </p:spPr>
      </p:sp>
      <p:sp>
        <p:nvSpPr>
          <p:cNvPr id="8" name="Text 6"/>
          <p:cNvSpPr txBox="1"/>
          <p:nvPr/>
        </p:nvSpPr>
        <p:spPr>
          <a:xfrm>
            <a:off x="4892040" y="1435608"/>
            <a:ext cx="3474720" cy="1152144"/>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Clustered requests, low spread</a:t>
            </a:r>
            <a:endParaRPr lang="en-US" sz="1500" dirty="0"/>
          </a:p>
          <a:p>
            <a:pPr indent="0" marL="0">
              <a:spcAft>
                <a:spcPts val="400"/>
              </a:spcAft>
              <a:buNone/>
            </a:pPr>
            <a:r>
              <a:rPr lang="en-US" sz="1500" b="1" dirty="0">
                <a:solidFill>
                  <a:schemeClr val="accent1"/>
                </a:solidFill>
              </a:rPr>
              <a:t>Use SSTF</a:t>
            </a:r>
            <a:endParaRPr lang="en-US" sz="1500" dirty="0"/>
          </a:p>
          <a:p>
            <a:pPr indent="0" marL="0">
              <a:spcAft>
                <a:spcPts val="400"/>
              </a:spcAft>
              <a:buNone/>
            </a:pPr>
            <a:r>
              <a:rPr lang="en-US" sz="1400" dirty="0">
                <a:solidFill>
                  <a:schemeClr val="accent4"/>
                </a:solidFill>
              </a:rPr>
              <a:t>Nearest block first gives the shortest seeks.</a:t>
            </a:r>
            <a:endParaRPr lang="en-US" sz="1500" dirty="0"/>
          </a:p>
        </p:txBody>
      </p:sp>
      <p:sp>
        <p:nvSpPr>
          <p:cNvPr id="9" name="Rule card"/>
          <p:cNvSpPr/>
          <p:nvPr/>
        </p:nvSpPr>
        <p:spPr>
          <a:xfrm>
            <a:off x="548640" y="2880360"/>
            <a:ext cx="3931920" cy="1371600"/>
          </a:xfrm>
          <a:prstGeom prst="roundRect">
            <a:avLst>
              <a:gd name="adj" fmla="val 5333"/>
            </a:avLst>
          </a:prstGeom>
          <a:solidFill>
            <a:schemeClr val="accent2"/>
          </a:solidFill>
          <a:ln w="12700">
            <a:solidFill>
              <a:schemeClr val="accent2"/>
            </a:solidFill>
            <a:prstDash val="solid"/>
          </a:ln>
        </p:spPr>
      </p:sp>
      <p:sp>
        <p:nvSpPr>
          <p:cNvPr id="10" name="Text 8"/>
          <p:cNvSpPr txBox="1"/>
          <p:nvPr/>
        </p:nvSpPr>
        <p:spPr>
          <a:xfrm>
            <a:off x="777240" y="2990088"/>
            <a:ext cx="3474720" cy="1152144"/>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Heavy, scattered load</a:t>
            </a:r>
            <a:endParaRPr lang="en-US" sz="1500" dirty="0"/>
          </a:p>
          <a:p>
            <a:pPr indent="0" marL="0">
              <a:spcAft>
                <a:spcPts val="400"/>
              </a:spcAft>
              <a:buNone/>
            </a:pPr>
            <a:r>
              <a:rPr lang="en-US" sz="1500" b="1" dirty="0">
                <a:solidFill>
                  <a:schemeClr val="accent1"/>
                </a:solidFill>
              </a:rPr>
              <a:t>Use LOOK / C-SCAN</a:t>
            </a:r>
            <a:endParaRPr lang="en-US" sz="1500" dirty="0"/>
          </a:p>
          <a:p>
            <a:pPr indent="0" marL="0">
              <a:spcAft>
                <a:spcPts val="400"/>
              </a:spcAft>
              <a:buNone/>
            </a:pPr>
            <a:r>
              <a:rPr lang="en-US" sz="1400" dirty="0">
                <a:solidFill>
                  <a:schemeClr val="accent4"/>
                </a:solidFill>
              </a:rPr>
              <a:t>Sweeps bound every wait and keep service uniform.</a:t>
            </a:r>
            <a:endParaRPr lang="en-US" sz="1500" dirty="0"/>
          </a:p>
        </p:txBody>
      </p:sp>
      <p:sp>
        <p:nvSpPr>
          <p:cNvPr id="11" name="Rule card"/>
          <p:cNvSpPr/>
          <p:nvPr/>
        </p:nvSpPr>
        <p:spPr>
          <a:xfrm>
            <a:off x="4663440" y="2880360"/>
            <a:ext cx="3931920" cy="1371600"/>
          </a:xfrm>
          <a:prstGeom prst="roundRect">
            <a:avLst>
              <a:gd name="adj" fmla="val 5333"/>
            </a:avLst>
          </a:prstGeom>
          <a:solidFill>
            <a:schemeClr val="accent2"/>
          </a:solidFill>
          <a:ln w="12700">
            <a:solidFill>
              <a:schemeClr val="accent2"/>
            </a:solidFill>
            <a:prstDash val="solid"/>
          </a:ln>
        </p:spPr>
      </p:sp>
      <p:sp>
        <p:nvSpPr>
          <p:cNvPr id="12" name="Text 10"/>
          <p:cNvSpPr txBox="1"/>
          <p:nvPr/>
        </p:nvSpPr>
        <p:spPr>
          <a:xfrm>
            <a:off x="4892040" y="2990088"/>
            <a:ext cx="3474720" cy="1152144"/>
          </a:xfrm>
          <a:prstGeom prst="rect">
            <a:avLst/>
          </a:prstGeom>
          <a:noFill/>
          <a:ln/>
        </p:spPr>
        <p:txBody>
          <a:bodyPr wrap="square" lIns="0" tIns="0" rIns="0" bIns="0" rtlCol="0" anchor="ctr"/>
          <a:lstStyle/>
          <a:p>
            <a:pPr indent="0" marL="0">
              <a:spcAft>
                <a:spcPts val="400"/>
              </a:spcAft>
              <a:buNone/>
            </a:pPr>
            <a:r>
              <a:rPr lang="en-US" sz="1500" b="1" dirty="0">
                <a:solidFill>
                  <a:schemeClr val="bg1"/>
                </a:solidFill>
              </a:rPr>
              <a:t>Request older than threshold</a:t>
            </a:r>
            <a:endParaRPr lang="en-US" sz="1500" dirty="0"/>
          </a:p>
          <a:p>
            <a:pPr indent="0" marL="0">
              <a:spcAft>
                <a:spcPts val="400"/>
              </a:spcAft>
              <a:buNone/>
            </a:pPr>
            <a:r>
              <a:rPr lang="en-US" sz="1500" b="1" dirty="0">
                <a:solidFill>
                  <a:schemeClr val="accent1"/>
                </a:solidFill>
              </a:rPr>
              <a:t>Use AGING PROMOTION</a:t>
            </a:r>
            <a:endParaRPr lang="en-US" sz="1500" dirty="0"/>
          </a:p>
          <a:p>
            <a:pPr indent="0" marL="0">
              <a:spcAft>
                <a:spcPts val="400"/>
              </a:spcAft>
              <a:buNone/>
            </a:pPr>
            <a:r>
              <a:rPr lang="en-US" sz="1400" dirty="0">
                <a:solidFill>
                  <a:schemeClr val="accent4"/>
                </a:solidFill>
              </a:rPr>
              <a:t>Served next, so no request can starve.</a:t>
            </a:r>
            <a:endParaRPr lang="en-US" sz="1500" dirty="0"/>
          </a:p>
        </p:txBody>
      </p:sp>
      <p:sp>
        <p:nvSpPr>
          <p:cNvPr id="13" name="Text 11"/>
          <p:cNvSpPr txBox="1"/>
          <p:nvPr/>
        </p:nvSpPr>
        <p:spPr>
          <a:xfrm>
            <a:off x="548640" y="4434840"/>
            <a:ext cx="8046720" cy="274320"/>
          </a:xfrm>
          <a:prstGeom prst="rect">
            <a:avLst/>
          </a:prstGeom>
          <a:noFill/>
          <a:ln/>
        </p:spPr>
        <p:txBody>
          <a:bodyPr wrap="square" lIns="0" tIns="0" rIns="0" bIns="0" rtlCol="0" anchor="ctr"/>
          <a:lstStyle/>
          <a:p>
            <a:pPr indent="0" marL="0">
              <a:buNone/>
            </a:pPr>
            <a:r>
              <a:rPr lang="en-US" sz="1200" i="1" dirty="0">
                <a:solidFill>
                  <a:schemeClr val="accent4"/>
                </a:solidFill>
              </a:rPr>
              <a:t>The engine re-evaluates before every dispatch batch. SIGUSR1 forces the next policy.</a:t>
            </a:r>
            <a:endParaRPr lang="en-US" sz="12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ag"/>
          <p:cNvSpPr/>
          <p:nvPr/>
        </p:nvSpPr>
        <p:spPr>
          <a:xfrm>
            <a:off x="548640" y="256032"/>
            <a:ext cx="2340864"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2340864"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07  CO-1  |  CO-2</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OS Services and Processes</a:t>
            </a:r>
            <a:endParaRPr lang="en-US" sz="2800" dirty="0"/>
          </a:p>
        </p:txBody>
      </p:sp>
      <p:sp>
        <p:nvSpPr>
          <p:cNvPr id="5" name="Concept card"/>
          <p:cNvSpPr/>
          <p:nvPr/>
        </p:nvSpPr>
        <p:spPr>
          <a:xfrm>
            <a:off x="548640" y="1325880"/>
            <a:ext cx="3931920" cy="3154680"/>
          </a:xfrm>
          <a:prstGeom prst="roundRect">
            <a:avLst>
              <a:gd name="adj" fmla="val 23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777240" y="1508760"/>
            <a:ext cx="502920" cy="502920"/>
          </a:xfrm>
          <a:prstGeom prst="ellipse">
            <a:avLst/>
          </a:prstGeom>
          <a:solidFill>
            <a:schemeClr val="tx2"/>
          </a:solidFill>
          <a:ln w="1270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897941" y="1629461"/>
            <a:ext cx="261518" cy="261518"/>
          </a:xfrm>
          <a:prstGeom prst="rect">
            <a:avLst/>
          </a:prstGeom>
        </p:spPr>
      </p:pic>
      <p:sp>
        <p:nvSpPr>
          <p:cNvPr id="8" name="Text 5"/>
          <p:cNvSpPr txBox="1"/>
          <p:nvPr/>
        </p:nvSpPr>
        <p:spPr>
          <a:xfrm>
            <a:off x="1417320" y="1508760"/>
            <a:ext cx="2926080" cy="502920"/>
          </a:xfrm>
          <a:prstGeom prst="rect">
            <a:avLst/>
          </a:prstGeom>
          <a:noFill/>
          <a:ln/>
        </p:spPr>
        <p:txBody>
          <a:bodyPr wrap="square" lIns="0" tIns="0" rIns="0" bIns="0" rtlCol="0" anchor="ctr"/>
          <a:lstStyle/>
          <a:p>
            <a:pPr indent="0" marL="0">
              <a:buNone/>
            </a:pPr>
            <a:r>
              <a:rPr lang="en-US" sz="1600" b="1" dirty="0">
                <a:solidFill>
                  <a:schemeClr val="tx2"/>
                </a:solidFill>
              </a:rPr>
              <a:t>CO-1  OS as a Service Layer</a:t>
            </a:r>
            <a:endParaRPr lang="en-US" sz="1600" dirty="0"/>
          </a:p>
        </p:txBody>
      </p:sp>
      <p:sp>
        <p:nvSpPr>
          <p:cNvPr id="9" name="Text 6"/>
          <p:cNvSpPr txBox="1"/>
          <p:nvPr/>
        </p:nvSpPr>
        <p:spPr>
          <a:xfrm>
            <a:off x="822960" y="2194560"/>
            <a:ext cx="3474720" cy="19659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Scheduler runs in user space; disk access goes through system calls</a:t>
            </a:r>
            <a:endParaRPr lang="en-US" sz="1400" dirty="0"/>
          </a:p>
          <a:p>
            <a:pPr marL="177800" indent="-177800">
              <a:spcAft>
                <a:spcPts val="800"/>
              </a:spcAft>
              <a:buSzPct val="100000"/>
              <a:buChar char="•"/>
            </a:pPr>
            <a:r>
              <a:rPr lang="en-US" sz="1400" dirty="0">
                <a:solidFill>
                  <a:schemeClr val="tx1"/>
                </a:solidFill>
              </a:rPr>
              <a:t>open(), pread() and close() cross into the kernel</a:t>
            </a:r>
            <a:endParaRPr lang="en-US" sz="1400" dirty="0"/>
          </a:p>
          <a:p>
            <a:pPr marL="177800" indent="-177800">
              <a:spcAft>
                <a:spcPts val="800"/>
              </a:spcAft>
              <a:buSzPct val="100000"/>
              <a:buChar char="•"/>
            </a:pPr>
            <a:r>
              <a:rPr lang="en-US" sz="1400" dirty="0">
                <a:solidFill>
                  <a:schemeClr val="tx1"/>
                </a:solidFill>
              </a:rPr>
              <a:t>The kernel block layer has its own elevator (mq-deadline, BFQ, Kyber)</a:t>
            </a:r>
            <a:endParaRPr lang="en-US" sz="1400" dirty="0"/>
          </a:p>
          <a:p>
            <a:pPr marL="177800" indent="-177800">
              <a:spcAft>
                <a:spcPts val="800"/>
              </a:spcAft>
              <a:buSzPct val="100000"/>
              <a:buChar char="•"/>
            </a:pPr>
            <a:r>
              <a:rPr lang="en-US" sz="1400" dirty="0">
                <a:solidFill>
                  <a:schemeClr val="tx1"/>
                </a:solidFill>
              </a:rPr>
              <a:t>The shell launches the daemon: fork, exec, wait</a:t>
            </a:r>
            <a:endParaRPr lang="en-US" sz="1400" dirty="0"/>
          </a:p>
        </p:txBody>
      </p:sp>
      <p:sp>
        <p:nvSpPr>
          <p:cNvPr id="10" name="Concept card"/>
          <p:cNvSpPr/>
          <p:nvPr/>
        </p:nvSpPr>
        <p:spPr>
          <a:xfrm>
            <a:off x="4663440" y="1325880"/>
            <a:ext cx="3931920" cy="3154680"/>
          </a:xfrm>
          <a:prstGeom prst="roundRect">
            <a:avLst>
              <a:gd name="adj" fmla="val 2319"/>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Icon circle"/>
          <p:cNvSpPr/>
          <p:nvPr/>
        </p:nvSpPr>
        <p:spPr>
          <a:xfrm>
            <a:off x="4892040" y="1508760"/>
            <a:ext cx="502920" cy="502920"/>
          </a:xfrm>
          <a:prstGeom prst="ellipse">
            <a:avLst/>
          </a:prstGeom>
          <a:solidFill>
            <a:schemeClr val="tx2"/>
          </a:solidFill>
          <a:ln w="12700">
            <a:solidFill>
              <a:schemeClr val="tx2"/>
            </a:solidFill>
            <a:prstDash val="solid"/>
          </a:ln>
        </p:spPr>
      </p:sp>
      <p:pic>
        <p:nvPicPr>
          <p:cNvPr id="12" name="Image 1" descr="preencoded.png">    </p:cNvPr>
          <p:cNvPicPr>
            <a:picLocks noChangeAspect="1"/>
          </p:cNvPicPr>
          <p:nvPr/>
        </p:nvPicPr>
        <p:blipFill>
          <a:blip r:embed="rId2"/>
          <a:stretch>
            <a:fillRect/>
          </a:stretch>
        </p:blipFill>
        <p:spPr>
          <a:xfrm>
            <a:off x="5012741" y="1629461"/>
            <a:ext cx="261518" cy="261518"/>
          </a:xfrm>
          <a:prstGeom prst="rect">
            <a:avLst/>
          </a:prstGeom>
        </p:spPr>
      </p:pic>
      <p:sp>
        <p:nvSpPr>
          <p:cNvPr id="13" name="Text 9"/>
          <p:cNvSpPr txBox="1"/>
          <p:nvPr/>
        </p:nvSpPr>
        <p:spPr>
          <a:xfrm>
            <a:off x="5532120" y="1508760"/>
            <a:ext cx="2926080" cy="502920"/>
          </a:xfrm>
          <a:prstGeom prst="rect">
            <a:avLst/>
          </a:prstGeom>
          <a:noFill/>
          <a:ln/>
        </p:spPr>
        <p:txBody>
          <a:bodyPr wrap="square" lIns="0" tIns="0" rIns="0" bIns="0" rtlCol="0" anchor="ctr"/>
          <a:lstStyle/>
          <a:p>
            <a:pPr indent="0" marL="0">
              <a:buNone/>
            </a:pPr>
            <a:r>
              <a:rPr lang="en-US" sz="1600" b="1" dirty="0">
                <a:solidFill>
                  <a:schemeClr val="tx2"/>
                </a:solidFill>
              </a:rPr>
              <a:t>CO-2  Process Control</a:t>
            </a:r>
            <a:endParaRPr lang="en-US" sz="1600" dirty="0"/>
          </a:p>
        </p:txBody>
      </p:sp>
      <p:sp>
        <p:nvSpPr>
          <p:cNvPr id="14" name="Text 10"/>
          <p:cNvSpPr txBox="1"/>
          <p:nvPr/>
        </p:nvSpPr>
        <p:spPr>
          <a:xfrm>
            <a:off x="4937760" y="2194560"/>
            <a:ext cx="3474720" cy="19659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fork() creates each client; execv() loads its program</a:t>
            </a:r>
            <a:endParaRPr lang="en-US" sz="1400" dirty="0"/>
          </a:p>
          <a:p>
            <a:pPr marL="177800" indent="-177800">
              <a:spcAft>
                <a:spcPts val="800"/>
              </a:spcAft>
              <a:buSzPct val="100000"/>
              <a:buChar char="•"/>
            </a:pPr>
            <a:r>
              <a:rPr lang="en-US" sz="1400" dirty="0">
                <a:solidFill>
                  <a:schemeClr val="tx1"/>
                </a:solidFill>
              </a:rPr>
              <a:t>waitpid() reaps children, so no zombies remain</a:t>
            </a:r>
            <a:endParaRPr lang="en-US" sz="1400" dirty="0"/>
          </a:p>
          <a:p>
            <a:pPr marL="177800" indent="-177800">
              <a:spcAft>
                <a:spcPts val="800"/>
              </a:spcAft>
              <a:buSzPct val="100000"/>
              <a:buChar char="•"/>
            </a:pPr>
            <a:r>
              <a:rPr lang="en-US" sz="1400" dirty="0">
                <a:solidFill>
                  <a:schemeClr val="tx1"/>
                </a:solidFill>
              </a:rPr>
              <a:t>Clients go ready, running, waiting while blocked on the FIFO</a:t>
            </a:r>
            <a:endParaRPr lang="en-US" sz="1400" dirty="0"/>
          </a:p>
          <a:p>
            <a:pPr marL="177800" indent="-177800">
              <a:spcAft>
                <a:spcPts val="800"/>
              </a:spcAft>
              <a:buSzPct val="100000"/>
              <a:buChar char="•"/>
            </a:pPr>
            <a:r>
              <a:rPr lang="en-US" sz="1400" dirty="0">
                <a:solidFill>
                  <a:schemeClr val="tx1"/>
                </a:solidFill>
              </a:rPr>
              <a:t>Cleanup handles orphan and zombie pitfalls</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ag"/>
          <p:cNvSpPr/>
          <p:nvPr/>
        </p:nvSpPr>
        <p:spPr>
          <a:xfrm>
            <a:off x="548640" y="256032"/>
            <a:ext cx="1271016"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271016"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08  CO-3</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Inter-Process Communication</a:t>
            </a:r>
            <a:endParaRPr lang="en-US" sz="2800" dirty="0"/>
          </a:p>
        </p:txBody>
      </p:sp>
      <p:sp>
        <p:nvSpPr>
          <p:cNvPr id="5" name="IPC card"/>
          <p:cNvSpPr/>
          <p:nvPr/>
        </p:nvSpPr>
        <p:spPr>
          <a:xfrm>
            <a:off x="548640" y="1325880"/>
            <a:ext cx="3931920" cy="1417320"/>
          </a:xfrm>
          <a:prstGeom prst="roundRect">
            <a:avLst>
              <a:gd name="adj" fmla="val 51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Icon circle"/>
          <p:cNvSpPr/>
          <p:nvPr/>
        </p:nvSpPr>
        <p:spPr>
          <a:xfrm>
            <a:off x="777240" y="1737360"/>
            <a:ext cx="594360" cy="594360"/>
          </a:xfrm>
          <a:prstGeom prst="ellipse">
            <a:avLst/>
          </a:prstGeom>
          <a:solidFill>
            <a:schemeClr val="tx2"/>
          </a:solidFill>
          <a:ln w="1270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919886" y="1880006"/>
            <a:ext cx="309067" cy="309067"/>
          </a:xfrm>
          <a:prstGeom prst="rect">
            <a:avLst/>
          </a:prstGeom>
        </p:spPr>
      </p:pic>
      <p:sp>
        <p:nvSpPr>
          <p:cNvPr id="8" name="Text 5"/>
          <p:cNvSpPr txBox="1"/>
          <p:nvPr/>
        </p:nvSpPr>
        <p:spPr>
          <a:xfrm>
            <a:off x="1554480" y="1417320"/>
            <a:ext cx="2788920" cy="123444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Anonymous pipes</a:t>
            </a:r>
            <a:endParaRPr lang="en-US" sz="1500" dirty="0"/>
          </a:p>
          <a:p>
            <a:pPr indent="0" marL="0">
              <a:spcAft>
                <a:spcPts val="300"/>
              </a:spcAft>
              <a:buNone/>
            </a:pPr>
            <a:r>
              <a:rPr lang="en-US" sz="1400" dirty="0">
                <a:solidFill>
                  <a:schemeClr val="tx1"/>
                </a:solidFill>
              </a:rPr>
              <a:t>pipe() carries completion acks from the scheduler back to its child clients.</a:t>
            </a:r>
            <a:endParaRPr lang="en-US" sz="1500" dirty="0"/>
          </a:p>
        </p:txBody>
      </p:sp>
      <p:sp>
        <p:nvSpPr>
          <p:cNvPr id="9" name="IPC card"/>
          <p:cNvSpPr/>
          <p:nvPr/>
        </p:nvSpPr>
        <p:spPr>
          <a:xfrm>
            <a:off x="4663440" y="1325880"/>
            <a:ext cx="3931920" cy="1417320"/>
          </a:xfrm>
          <a:prstGeom prst="roundRect">
            <a:avLst>
              <a:gd name="adj" fmla="val 51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4892040" y="1737360"/>
            <a:ext cx="594360" cy="59436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5034686" y="1880006"/>
            <a:ext cx="309067" cy="309067"/>
          </a:xfrm>
          <a:prstGeom prst="rect">
            <a:avLst/>
          </a:prstGeom>
        </p:spPr>
      </p:pic>
      <p:sp>
        <p:nvSpPr>
          <p:cNvPr id="12" name="Text 8"/>
          <p:cNvSpPr txBox="1"/>
          <p:nvPr/>
        </p:nvSpPr>
        <p:spPr>
          <a:xfrm>
            <a:off x="5669280" y="1417320"/>
            <a:ext cx="2788920" cy="123444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Named pipes (FIFO)</a:t>
            </a:r>
            <a:endParaRPr lang="en-US" sz="1500" dirty="0"/>
          </a:p>
          <a:p>
            <a:pPr indent="0" marL="0">
              <a:spcAft>
                <a:spcPts val="300"/>
              </a:spcAft>
              <a:buNone/>
            </a:pPr>
            <a:r>
              <a:rPr lang="en-US" sz="1400" dirty="0">
                <a:solidFill>
                  <a:schemeClr val="tx1"/>
                </a:solidFill>
              </a:rPr>
              <a:t>Clients write block requests to /tmp/sds_requests; the daemon reads them.</a:t>
            </a:r>
            <a:endParaRPr lang="en-US" sz="1500" dirty="0"/>
          </a:p>
        </p:txBody>
      </p:sp>
      <p:sp>
        <p:nvSpPr>
          <p:cNvPr id="13" name="IPC card"/>
          <p:cNvSpPr/>
          <p:nvPr/>
        </p:nvSpPr>
        <p:spPr>
          <a:xfrm>
            <a:off x="548640" y="2926080"/>
            <a:ext cx="3931920" cy="1417320"/>
          </a:xfrm>
          <a:prstGeom prst="roundRect">
            <a:avLst>
              <a:gd name="adj" fmla="val 51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777240" y="3337560"/>
            <a:ext cx="594360" cy="594360"/>
          </a:xfrm>
          <a:prstGeom prst="ellipse">
            <a:avLst/>
          </a:prstGeom>
          <a:solidFill>
            <a:schemeClr val="tx2"/>
          </a:solidFill>
          <a:ln w="12700">
            <a:solidFill>
              <a:schemeClr val="tx2"/>
            </a:solidFill>
            <a:prstDash val="solid"/>
          </a:ln>
        </p:spPr>
      </p:sp>
      <p:pic>
        <p:nvPicPr>
          <p:cNvPr id="15" name="Image 2" descr="preencoded.png">    </p:cNvPr>
          <p:cNvPicPr>
            <a:picLocks noChangeAspect="1"/>
          </p:cNvPicPr>
          <p:nvPr/>
        </p:nvPicPr>
        <p:blipFill>
          <a:blip r:embed="rId3"/>
          <a:stretch>
            <a:fillRect/>
          </a:stretch>
        </p:blipFill>
        <p:spPr>
          <a:xfrm>
            <a:off x="919886" y="3480206"/>
            <a:ext cx="309067" cy="309067"/>
          </a:xfrm>
          <a:prstGeom prst="rect">
            <a:avLst/>
          </a:prstGeom>
        </p:spPr>
      </p:pic>
      <p:sp>
        <p:nvSpPr>
          <p:cNvPr id="16" name="Text 11"/>
          <p:cNvSpPr txBox="1"/>
          <p:nvPr/>
        </p:nvSpPr>
        <p:spPr>
          <a:xfrm>
            <a:off x="1554480" y="3017520"/>
            <a:ext cx="2788920" cy="123444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Signals</a:t>
            </a:r>
            <a:endParaRPr lang="en-US" sz="1500" dirty="0"/>
          </a:p>
          <a:p>
            <a:pPr indent="0" marL="0">
              <a:spcAft>
                <a:spcPts val="300"/>
              </a:spcAft>
              <a:buNone/>
            </a:pPr>
            <a:r>
              <a:rPr lang="en-US" sz="1400" dirty="0">
                <a:solidFill>
                  <a:schemeClr val="tx1"/>
                </a:solidFill>
              </a:rPr>
              <a:t>SIGUSR1 switches policy, SIGUSR2 dumps stats, SIGINT stops cleanly via sigaction.</a:t>
            </a:r>
            <a:endParaRPr lang="en-US" sz="1500" dirty="0"/>
          </a:p>
        </p:txBody>
      </p:sp>
      <p:sp>
        <p:nvSpPr>
          <p:cNvPr id="17" name="IPC card"/>
          <p:cNvSpPr/>
          <p:nvPr/>
        </p:nvSpPr>
        <p:spPr>
          <a:xfrm>
            <a:off x="4663440" y="2926080"/>
            <a:ext cx="3931920" cy="1417320"/>
          </a:xfrm>
          <a:prstGeom prst="roundRect">
            <a:avLst>
              <a:gd name="adj" fmla="val 5161"/>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8" name="Icon circle"/>
          <p:cNvSpPr/>
          <p:nvPr/>
        </p:nvSpPr>
        <p:spPr>
          <a:xfrm>
            <a:off x="4892040" y="3337560"/>
            <a:ext cx="594360" cy="594360"/>
          </a:xfrm>
          <a:prstGeom prst="ellipse">
            <a:avLst/>
          </a:prstGeom>
          <a:solidFill>
            <a:schemeClr val="tx2"/>
          </a:solidFill>
          <a:ln w="12700">
            <a:solidFill>
              <a:schemeClr val="tx2"/>
            </a:solidFill>
            <a:prstDash val="solid"/>
          </a:ln>
        </p:spPr>
      </p:sp>
      <p:pic>
        <p:nvPicPr>
          <p:cNvPr id="19" name="Image 3" descr="preencoded.png">    </p:cNvPr>
          <p:cNvPicPr>
            <a:picLocks noChangeAspect="1"/>
          </p:cNvPicPr>
          <p:nvPr/>
        </p:nvPicPr>
        <p:blipFill>
          <a:blip r:embed="rId4"/>
          <a:stretch>
            <a:fillRect/>
          </a:stretch>
        </p:blipFill>
        <p:spPr>
          <a:xfrm>
            <a:off x="5034686" y="3480206"/>
            <a:ext cx="309067" cy="309067"/>
          </a:xfrm>
          <a:prstGeom prst="rect">
            <a:avLst/>
          </a:prstGeom>
        </p:spPr>
      </p:pic>
      <p:sp>
        <p:nvSpPr>
          <p:cNvPr id="20" name="Text 14"/>
          <p:cNvSpPr txBox="1"/>
          <p:nvPr/>
        </p:nvSpPr>
        <p:spPr>
          <a:xfrm>
            <a:off x="5669280" y="3017520"/>
            <a:ext cx="2788920" cy="1234440"/>
          </a:xfrm>
          <a:prstGeom prst="rect">
            <a:avLst/>
          </a:prstGeom>
          <a:noFill/>
          <a:ln/>
        </p:spPr>
        <p:txBody>
          <a:bodyPr wrap="square" lIns="0" tIns="0" rIns="0" bIns="0" rtlCol="0" anchor="ctr"/>
          <a:lstStyle/>
          <a:p>
            <a:pPr indent="0" marL="0">
              <a:spcAft>
                <a:spcPts val="300"/>
              </a:spcAft>
              <a:buNone/>
            </a:pPr>
            <a:r>
              <a:rPr lang="en-US" sz="1500" b="1" dirty="0">
                <a:solidFill>
                  <a:schemeClr val="tx2"/>
                </a:solidFill>
              </a:rPr>
              <a:t>Groups and job control</a:t>
            </a:r>
            <a:endParaRPr lang="en-US" sz="1500" dirty="0"/>
          </a:p>
          <a:p>
            <a:pPr indent="0" marL="0">
              <a:spcAft>
                <a:spcPts val="300"/>
              </a:spcAft>
              <a:buNone/>
            </a:pPr>
            <a:r>
              <a:rPr lang="en-US" sz="1400" dirty="0">
                <a:solidFill>
                  <a:schemeClr val="tx1"/>
                </a:solidFill>
              </a:rPr>
              <a:t>setpgid() groups the clients; kill(-pgid) stops them together.</a:t>
            </a:r>
            <a:endParaRPr lang="en-US" sz="15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ag"/>
          <p:cNvSpPr/>
          <p:nvPr/>
        </p:nvSpPr>
        <p:spPr>
          <a:xfrm>
            <a:off x="548640" y="256032"/>
            <a:ext cx="1271016"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271016"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09  CO-4</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Memory Management</a:t>
            </a:r>
            <a:endParaRPr lang="en-US" sz="2800" dirty="0"/>
          </a:p>
        </p:txBody>
      </p:sp>
      <p:sp>
        <p:nvSpPr>
          <p:cNvPr id="5" name="Text 3"/>
          <p:cNvSpPr txBox="1"/>
          <p:nvPr/>
        </p:nvSpPr>
        <p:spPr>
          <a:xfrm>
            <a:off x="548640" y="1325880"/>
            <a:ext cx="4572000" cy="3200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Each process sees private virtual memory; page tables map it to frames</a:t>
            </a:r>
            <a:endParaRPr lang="en-US" sz="1400" dirty="0"/>
          </a:p>
          <a:p>
            <a:pPr marL="177800" indent="-177800">
              <a:spcAft>
                <a:spcPts val="800"/>
              </a:spcAft>
              <a:buSzPct val="100000"/>
              <a:buChar char="•"/>
            </a:pPr>
            <a:r>
              <a:rPr lang="en-US" sz="1400" dirty="0">
                <a:solidFill>
                  <a:schemeClr val="tx1"/>
                </a:solidFill>
              </a:rPr>
              <a:t>Request nodes use malloc() and free() on the heap</a:t>
            </a:r>
            <a:endParaRPr lang="en-US" sz="1400" dirty="0"/>
          </a:p>
          <a:p>
            <a:pPr marL="177800" indent="-177800">
              <a:spcAft>
                <a:spcPts val="800"/>
              </a:spcAft>
              <a:buSzPct val="100000"/>
              <a:buChar char="•"/>
            </a:pPr>
            <a:r>
              <a:rPr lang="en-US" sz="1400" dirty="0">
                <a:solidFill>
                  <a:schemeClr val="tx1"/>
                </a:solidFill>
              </a:rPr>
              <a:t>mmap()'d stats pages load on first touch through page faults (demand paging)</a:t>
            </a:r>
            <a:endParaRPr lang="en-US" sz="1400" dirty="0"/>
          </a:p>
          <a:p>
            <a:pPr marL="177800" indent="-177800">
              <a:spcAft>
                <a:spcPts val="800"/>
              </a:spcAft>
              <a:buSzPct val="100000"/>
              <a:buChar char="•"/>
            </a:pPr>
            <a:r>
              <a:rPr lang="en-US" sz="1400" dirty="0">
                <a:solidFill>
                  <a:schemeClr val="tx1"/>
                </a:solidFill>
              </a:rPr>
              <a:t>fork() uses copy-on-write: clients share pages until one writes</a:t>
            </a:r>
            <a:endParaRPr lang="en-US" sz="1400" dirty="0"/>
          </a:p>
          <a:p>
            <a:pPr marL="177800" indent="-177800">
              <a:spcAft>
                <a:spcPts val="800"/>
              </a:spcAft>
              <a:buSzPct val="100000"/>
              <a:buChar char="•"/>
            </a:pPr>
            <a:r>
              <a:rPr lang="en-US" sz="1400" dirty="0">
                <a:solidFill>
                  <a:schemeClr val="tx1"/>
                </a:solidFill>
              </a:rPr>
              <a:t>Valgrind and ASan catch leaks and use-after-free; a bad access raises SIGSEGV</a:t>
            </a:r>
            <a:endParaRPr lang="en-US" sz="1400" dirty="0"/>
          </a:p>
        </p:txBody>
      </p:sp>
      <p:sp>
        <p:nvSpPr>
          <p:cNvPr id="6" name="Text 4"/>
          <p:cNvSpPr txBox="1"/>
          <p:nvPr/>
        </p:nvSpPr>
        <p:spPr>
          <a:xfrm>
            <a:off x="5486400" y="1280160"/>
            <a:ext cx="3108960" cy="228600"/>
          </a:xfrm>
          <a:prstGeom prst="rect">
            <a:avLst/>
          </a:prstGeom>
          <a:noFill/>
          <a:ln/>
        </p:spPr>
        <p:txBody>
          <a:bodyPr wrap="square" lIns="0" tIns="0" rIns="0" bIns="0" rtlCol="0" anchor="ctr"/>
          <a:lstStyle/>
          <a:p>
            <a:pPr algn="ctr" indent="0" marL="0">
              <a:buNone/>
            </a:pPr>
            <a:r>
              <a:rPr lang="en-US" sz="1200" b="1" dirty="0">
                <a:solidFill>
                  <a:schemeClr val="accent2"/>
                </a:solidFill>
              </a:rPr>
              <a:t>Process address space</a:t>
            </a:r>
            <a:endParaRPr lang="en-US" sz="1200" dirty="0"/>
          </a:p>
        </p:txBody>
      </p:sp>
      <p:sp>
        <p:nvSpPr>
          <p:cNvPr id="7" name="Memory segment"/>
          <p:cNvSpPr/>
          <p:nvPr/>
        </p:nvSpPr>
        <p:spPr>
          <a:xfrm>
            <a:off x="5486400" y="1600200"/>
            <a:ext cx="3108960" cy="512064"/>
          </a:xfrm>
          <a:prstGeom prst="rect">
            <a:avLst/>
          </a:prstGeom>
          <a:solidFill>
            <a:schemeClr val="accent2"/>
          </a:solidFill>
          <a:ln w="12700">
            <a:solidFill>
              <a:schemeClr val="tx2"/>
            </a:solidFill>
            <a:prstDash val="solid"/>
          </a:ln>
        </p:spPr>
      </p:sp>
      <p:sp>
        <p:nvSpPr>
          <p:cNvPr id="8" name="Text 6"/>
          <p:cNvSpPr txBox="1"/>
          <p:nvPr/>
        </p:nvSpPr>
        <p:spPr>
          <a:xfrm>
            <a:off x="5577840" y="1600200"/>
            <a:ext cx="2926080" cy="512064"/>
          </a:xfrm>
          <a:prstGeom prst="rect">
            <a:avLst/>
          </a:prstGeom>
          <a:noFill/>
          <a:ln/>
        </p:spPr>
        <p:txBody>
          <a:bodyPr wrap="square" lIns="0" tIns="0" rIns="0" bIns="0" rtlCol="0" anchor="ctr"/>
          <a:lstStyle/>
          <a:p>
            <a:pPr algn="ctr" indent="0" marL="0">
              <a:buNone/>
            </a:pPr>
            <a:r>
              <a:rPr lang="en-US" sz="1400" b="1" dirty="0">
                <a:solidFill>
                  <a:schemeClr val="bg1"/>
                </a:solidFill>
              </a:rPr>
              <a:t>Stack: local variables</a:t>
            </a:r>
            <a:endParaRPr lang="en-US" sz="1400" dirty="0"/>
          </a:p>
        </p:txBody>
      </p:sp>
      <p:sp>
        <p:nvSpPr>
          <p:cNvPr id="9" name="Memory segment"/>
          <p:cNvSpPr/>
          <p:nvPr/>
        </p:nvSpPr>
        <p:spPr>
          <a:xfrm>
            <a:off x="5486400" y="2185416"/>
            <a:ext cx="3108960" cy="512064"/>
          </a:xfrm>
          <a:prstGeom prst="rect">
            <a:avLst/>
          </a:prstGeom>
          <a:solidFill>
            <a:schemeClr val="accent1"/>
          </a:solidFill>
          <a:ln w="12700">
            <a:solidFill>
              <a:schemeClr val="tx2"/>
            </a:solidFill>
            <a:prstDash val="solid"/>
          </a:ln>
        </p:spPr>
      </p:sp>
      <p:sp>
        <p:nvSpPr>
          <p:cNvPr id="10" name="Text 8"/>
          <p:cNvSpPr txBox="1"/>
          <p:nvPr/>
        </p:nvSpPr>
        <p:spPr>
          <a:xfrm>
            <a:off x="5577840" y="2185416"/>
            <a:ext cx="2926080" cy="512064"/>
          </a:xfrm>
          <a:prstGeom prst="rect">
            <a:avLst/>
          </a:prstGeom>
          <a:noFill/>
          <a:ln/>
        </p:spPr>
        <p:txBody>
          <a:bodyPr wrap="square" lIns="0" tIns="0" rIns="0" bIns="0" rtlCol="0" anchor="ctr"/>
          <a:lstStyle/>
          <a:p>
            <a:pPr algn="ctr" indent="0" marL="0">
              <a:buNone/>
            </a:pPr>
            <a:r>
              <a:rPr lang="en-US" sz="1400" b="1" dirty="0">
                <a:solidFill>
                  <a:schemeClr val="tx2"/>
                </a:solidFill>
              </a:rPr>
              <a:t>mmap: shared stats, disk.img</a:t>
            </a:r>
            <a:endParaRPr lang="en-US" sz="1400" dirty="0"/>
          </a:p>
        </p:txBody>
      </p:sp>
      <p:sp>
        <p:nvSpPr>
          <p:cNvPr id="11" name="Memory segment"/>
          <p:cNvSpPr/>
          <p:nvPr/>
        </p:nvSpPr>
        <p:spPr>
          <a:xfrm>
            <a:off x="5486400" y="2770632"/>
            <a:ext cx="3108960" cy="512064"/>
          </a:xfrm>
          <a:prstGeom prst="rect">
            <a:avLst/>
          </a:prstGeom>
          <a:solidFill>
            <a:schemeClr val="accent1"/>
          </a:solidFill>
          <a:ln w="12700">
            <a:solidFill>
              <a:schemeClr val="tx2"/>
            </a:solidFill>
            <a:prstDash val="solid"/>
          </a:ln>
        </p:spPr>
      </p:sp>
      <p:sp>
        <p:nvSpPr>
          <p:cNvPr id="12" name="Text 10"/>
          <p:cNvSpPr txBox="1"/>
          <p:nvPr/>
        </p:nvSpPr>
        <p:spPr>
          <a:xfrm>
            <a:off x="5577840" y="2770632"/>
            <a:ext cx="2926080" cy="512064"/>
          </a:xfrm>
          <a:prstGeom prst="rect">
            <a:avLst/>
          </a:prstGeom>
          <a:noFill/>
          <a:ln/>
        </p:spPr>
        <p:txBody>
          <a:bodyPr wrap="square" lIns="0" tIns="0" rIns="0" bIns="0" rtlCol="0" anchor="ctr"/>
          <a:lstStyle/>
          <a:p>
            <a:pPr algn="ctr" indent="0" marL="0">
              <a:buNone/>
            </a:pPr>
            <a:r>
              <a:rPr lang="en-US" sz="1400" b="1" dirty="0">
                <a:solidFill>
                  <a:schemeClr val="tx2"/>
                </a:solidFill>
              </a:rPr>
              <a:t>Heap: request queue</a:t>
            </a:r>
            <a:endParaRPr lang="en-US" sz="1400" dirty="0"/>
          </a:p>
        </p:txBody>
      </p:sp>
      <p:sp>
        <p:nvSpPr>
          <p:cNvPr id="13" name="Memory segment"/>
          <p:cNvSpPr/>
          <p:nvPr/>
        </p:nvSpPr>
        <p:spPr>
          <a:xfrm>
            <a:off x="5486400" y="3355848"/>
            <a:ext cx="3108960" cy="512064"/>
          </a:xfrm>
          <a:prstGeom prst="rect">
            <a:avLst/>
          </a:prstGeom>
          <a:solidFill>
            <a:schemeClr val="accent2"/>
          </a:solidFill>
          <a:ln w="12700">
            <a:solidFill>
              <a:schemeClr val="tx2"/>
            </a:solidFill>
            <a:prstDash val="solid"/>
          </a:ln>
        </p:spPr>
      </p:sp>
      <p:sp>
        <p:nvSpPr>
          <p:cNvPr id="14" name="Text 12"/>
          <p:cNvSpPr txBox="1"/>
          <p:nvPr/>
        </p:nvSpPr>
        <p:spPr>
          <a:xfrm>
            <a:off x="5577840" y="3355848"/>
            <a:ext cx="2926080" cy="512064"/>
          </a:xfrm>
          <a:prstGeom prst="rect">
            <a:avLst/>
          </a:prstGeom>
          <a:noFill/>
          <a:ln/>
        </p:spPr>
        <p:txBody>
          <a:bodyPr wrap="square" lIns="0" tIns="0" rIns="0" bIns="0" rtlCol="0" anchor="ctr"/>
          <a:lstStyle/>
          <a:p>
            <a:pPr algn="ctr" indent="0" marL="0">
              <a:buNone/>
            </a:pPr>
            <a:r>
              <a:rPr lang="en-US" sz="1400" b="1" dirty="0">
                <a:solidFill>
                  <a:schemeClr val="bg1"/>
                </a:solidFill>
              </a:rPr>
              <a:t>Data / BSS: policy table</a:t>
            </a:r>
            <a:endParaRPr lang="en-US" sz="1400" dirty="0"/>
          </a:p>
        </p:txBody>
      </p:sp>
      <p:sp>
        <p:nvSpPr>
          <p:cNvPr id="15" name="Memory segment"/>
          <p:cNvSpPr/>
          <p:nvPr/>
        </p:nvSpPr>
        <p:spPr>
          <a:xfrm>
            <a:off x="5486400" y="3941064"/>
            <a:ext cx="3108960" cy="512064"/>
          </a:xfrm>
          <a:prstGeom prst="rect">
            <a:avLst/>
          </a:prstGeom>
          <a:solidFill>
            <a:schemeClr val="accent2"/>
          </a:solidFill>
          <a:ln w="12700">
            <a:solidFill>
              <a:schemeClr val="tx2"/>
            </a:solidFill>
            <a:prstDash val="solid"/>
          </a:ln>
        </p:spPr>
      </p:sp>
      <p:sp>
        <p:nvSpPr>
          <p:cNvPr id="16" name="Text 14"/>
          <p:cNvSpPr txBox="1"/>
          <p:nvPr/>
        </p:nvSpPr>
        <p:spPr>
          <a:xfrm>
            <a:off x="5577840" y="3941064"/>
            <a:ext cx="2926080" cy="512064"/>
          </a:xfrm>
          <a:prstGeom prst="rect">
            <a:avLst/>
          </a:prstGeom>
          <a:noFill/>
          <a:ln/>
        </p:spPr>
        <p:txBody>
          <a:bodyPr wrap="square" lIns="0" tIns="0" rIns="0" bIns="0" rtlCol="0" anchor="ctr"/>
          <a:lstStyle/>
          <a:p>
            <a:pPr algn="ctr" indent="0" marL="0">
              <a:buNone/>
            </a:pPr>
            <a:r>
              <a:rPr lang="en-US" sz="1400" b="1" dirty="0">
                <a:solidFill>
                  <a:schemeClr val="bg1"/>
                </a:solidFill>
              </a:rPr>
              <a:t>Text: scheduler code</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ag"/>
          <p:cNvSpPr/>
          <p:nvPr/>
        </p:nvSpPr>
        <p:spPr>
          <a:xfrm>
            <a:off x="548640" y="256032"/>
            <a:ext cx="1271016"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271016"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10  CO-5</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bg1"/>
                </a:solidFill>
              </a:rPr>
              <a:t>File Systems and File I/O</a:t>
            </a:r>
            <a:endParaRPr lang="en-US" sz="2800" dirty="0"/>
          </a:p>
        </p:txBody>
      </p:sp>
      <p:sp>
        <p:nvSpPr>
          <p:cNvPr id="5" name="Chain box"/>
          <p:cNvSpPr/>
          <p:nvPr/>
        </p:nvSpPr>
        <p:spPr>
          <a:xfrm>
            <a:off x="548640" y="1325880"/>
            <a:ext cx="1371600" cy="868680"/>
          </a:xfrm>
          <a:prstGeom prst="roundRect">
            <a:avLst>
              <a:gd name="adj" fmla="val 6316"/>
            </a:avLst>
          </a:prstGeom>
          <a:solidFill>
            <a:schemeClr val="accent2"/>
          </a:solidFill>
          <a:ln w="12700">
            <a:solidFill>
              <a:schemeClr val="accent2"/>
            </a:solidFill>
            <a:prstDash val="solid"/>
          </a:ln>
        </p:spPr>
      </p:sp>
      <p:sp>
        <p:nvSpPr>
          <p:cNvPr id="6" name="Text 4"/>
          <p:cNvSpPr txBox="1"/>
          <p:nvPr/>
        </p:nvSpPr>
        <p:spPr>
          <a:xfrm>
            <a:off x="594360" y="1325880"/>
            <a:ext cx="1280160" cy="868680"/>
          </a:xfrm>
          <a:prstGeom prst="rect">
            <a:avLst/>
          </a:prstGeom>
          <a:noFill/>
          <a:ln/>
        </p:spPr>
        <p:txBody>
          <a:bodyPr wrap="square" lIns="0" tIns="0" rIns="0" bIns="0" rtlCol="0" anchor="ctr"/>
          <a:lstStyle/>
          <a:p>
            <a:pPr algn="ctr" indent="0" marL="0">
              <a:buNone/>
            </a:pPr>
            <a:r>
              <a:rPr lang="en-US" sz="1400" b="1" dirty="0">
                <a:solidFill>
                  <a:schemeClr val="bg1"/>
                </a:solidFill>
              </a:rPr>
              <a:t>disk.img</a:t>
            </a:r>
            <a:endParaRPr lang="en-US" sz="1400" dirty="0"/>
          </a:p>
          <a:p>
            <a:pPr algn="ctr" indent="0" marL="0">
              <a:buNone/>
            </a:pPr>
            <a:r>
              <a:rPr lang="en-US" sz="1200" dirty="0">
                <a:solidFill>
                  <a:schemeClr val="accent4"/>
                </a:solidFill>
              </a:rPr>
              <a:t>N x 4 KB blocks</a:t>
            </a:r>
            <a:endParaRPr lang="en-US" sz="1400" dirty="0"/>
          </a:p>
        </p:txBody>
      </p:sp>
      <p:sp>
        <p:nvSpPr>
          <p:cNvPr id="7" name="Shape 5"/>
          <p:cNvSpPr/>
          <p:nvPr/>
        </p:nvSpPr>
        <p:spPr>
          <a:xfrm>
            <a:off x="1920240" y="1760220"/>
            <a:ext cx="274320" cy="0"/>
          </a:xfrm>
          <a:prstGeom prst="line">
            <a:avLst/>
          </a:prstGeom>
          <a:noFill/>
          <a:ln w="25400">
            <a:solidFill>
              <a:schemeClr val="accent1"/>
            </a:solidFill>
            <a:prstDash val="solid"/>
            <a:tailEnd type="triangle"/>
          </a:ln>
        </p:spPr>
      </p:sp>
      <p:sp>
        <p:nvSpPr>
          <p:cNvPr id="8" name="Chain box"/>
          <p:cNvSpPr/>
          <p:nvPr/>
        </p:nvSpPr>
        <p:spPr>
          <a:xfrm>
            <a:off x="2194560" y="1325880"/>
            <a:ext cx="1371600" cy="868680"/>
          </a:xfrm>
          <a:prstGeom prst="roundRect">
            <a:avLst>
              <a:gd name="adj" fmla="val 6316"/>
            </a:avLst>
          </a:prstGeom>
          <a:solidFill>
            <a:schemeClr val="accent2"/>
          </a:solidFill>
          <a:ln w="12700">
            <a:solidFill>
              <a:schemeClr val="accent2"/>
            </a:solidFill>
            <a:prstDash val="solid"/>
          </a:ln>
        </p:spPr>
      </p:sp>
      <p:sp>
        <p:nvSpPr>
          <p:cNvPr id="9" name="Text 7"/>
          <p:cNvSpPr txBox="1"/>
          <p:nvPr/>
        </p:nvSpPr>
        <p:spPr>
          <a:xfrm>
            <a:off x="2240280" y="1325880"/>
            <a:ext cx="1280160" cy="868680"/>
          </a:xfrm>
          <a:prstGeom prst="rect">
            <a:avLst/>
          </a:prstGeom>
          <a:noFill/>
          <a:ln/>
        </p:spPr>
        <p:txBody>
          <a:bodyPr wrap="square" lIns="0" tIns="0" rIns="0" bIns="0" rtlCol="0" anchor="ctr"/>
          <a:lstStyle/>
          <a:p>
            <a:pPr algn="ctr" indent="0" marL="0">
              <a:buNone/>
            </a:pPr>
            <a:r>
              <a:rPr lang="en-US" sz="1400" b="1" dirty="0">
                <a:solidFill>
                  <a:schemeClr val="bg1"/>
                </a:solidFill>
              </a:rPr>
              <a:t>open()</a:t>
            </a:r>
            <a:endParaRPr lang="en-US" sz="1400" dirty="0"/>
          </a:p>
          <a:p>
            <a:pPr algn="ctr" indent="0" marL="0">
              <a:buNone/>
            </a:pPr>
            <a:r>
              <a:rPr lang="en-US" sz="1200" dirty="0">
                <a:solidFill>
                  <a:schemeClr val="accent4"/>
                </a:solidFill>
              </a:rPr>
              <a:t>file descriptor</a:t>
            </a:r>
            <a:endParaRPr lang="en-US" sz="1400" dirty="0"/>
          </a:p>
        </p:txBody>
      </p:sp>
      <p:sp>
        <p:nvSpPr>
          <p:cNvPr id="10" name="Shape 8"/>
          <p:cNvSpPr/>
          <p:nvPr/>
        </p:nvSpPr>
        <p:spPr>
          <a:xfrm>
            <a:off x="3566160" y="1760220"/>
            <a:ext cx="274320" cy="0"/>
          </a:xfrm>
          <a:prstGeom prst="line">
            <a:avLst/>
          </a:prstGeom>
          <a:noFill/>
          <a:ln w="25400">
            <a:solidFill>
              <a:schemeClr val="accent1"/>
            </a:solidFill>
            <a:prstDash val="solid"/>
            <a:tailEnd type="triangle"/>
          </a:ln>
        </p:spPr>
      </p:sp>
      <p:sp>
        <p:nvSpPr>
          <p:cNvPr id="11" name="Chain box"/>
          <p:cNvSpPr/>
          <p:nvPr/>
        </p:nvSpPr>
        <p:spPr>
          <a:xfrm>
            <a:off x="3840480" y="1325880"/>
            <a:ext cx="1371600" cy="868680"/>
          </a:xfrm>
          <a:prstGeom prst="roundRect">
            <a:avLst>
              <a:gd name="adj" fmla="val 6316"/>
            </a:avLst>
          </a:prstGeom>
          <a:solidFill>
            <a:schemeClr val="accent2"/>
          </a:solidFill>
          <a:ln w="12700">
            <a:solidFill>
              <a:schemeClr val="accent2"/>
            </a:solidFill>
            <a:prstDash val="solid"/>
          </a:ln>
        </p:spPr>
      </p:sp>
      <p:sp>
        <p:nvSpPr>
          <p:cNvPr id="12" name="Text 10"/>
          <p:cNvSpPr txBox="1"/>
          <p:nvPr/>
        </p:nvSpPr>
        <p:spPr>
          <a:xfrm>
            <a:off x="3886200" y="1325880"/>
            <a:ext cx="1280160" cy="868680"/>
          </a:xfrm>
          <a:prstGeom prst="rect">
            <a:avLst/>
          </a:prstGeom>
          <a:noFill/>
          <a:ln/>
        </p:spPr>
        <p:txBody>
          <a:bodyPr wrap="square" lIns="0" tIns="0" rIns="0" bIns="0" rtlCol="0" anchor="ctr"/>
          <a:lstStyle/>
          <a:p>
            <a:pPr algn="ctr" indent="0" marL="0">
              <a:buNone/>
            </a:pPr>
            <a:r>
              <a:rPr lang="en-US" sz="1400" b="1" dirty="0">
                <a:solidFill>
                  <a:schemeClr val="bg1"/>
                </a:solidFill>
              </a:rPr>
              <a:t>pread()</a:t>
            </a:r>
            <a:endParaRPr lang="en-US" sz="1400" dirty="0"/>
          </a:p>
          <a:p>
            <a:pPr algn="ctr" indent="0" marL="0">
              <a:buNone/>
            </a:pPr>
            <a:r>
              <a:rPr lang="en-US" sz="1200" dirty="0">
                <a:solidFill>
                  <a:schemeClr val="accent4"/>
                </a:solidFill>
              </a:rPr>
              <a:t>fd, buf, 4096, offset</a:t>
            </a:r>
            <a:endParaRPr lang="en-US" sz="1400" dirty="0"/>
          </a:p>
        </p:txBody>
      </p:sp>
      <p:sp>
        <p:nvSpPr>
          <p:cNvPr id="13" name="Shape 11"/>
          <p:cNvSpPr/>
          <p:nvPr/>
        </p:nvSpPr>
        <p:spPr>
          <a:xfrm>
            <a:off x="5212080" y="1760220"/>
            <a:ext cx="274320" cy="0"/>
          </a:xfrm>
          <a:prstGeom prst="line">
            <a:avLst/>
          </a:prstGeom>
          <a:noFill/>
          <a:ln w="25400">
            <a:solidFill>
              <a:schemeClr val="accent1"/>
            </a:solidFill>
            <a:prstDash val="solid"/>
            <a:tailEnd type="triangle"/>
          </a:ln>
        </p:spPr>
      </p:sp>
      <p:sp>
        <p:nvSpPr>
          <p:cNvPr id="14" name="Chain box"/>
          <p:cNvSpPr/>
          <p:nvPr/>
        </p:nvSpPr>
        <p:spPr>
          <a:xfrm>
            <a:off x="5486400" y="1325880"/>
            <a:ext cx="1371600" cy="868680"/>
          </a:xfrm>
          <a:prstGeom prst="roundRect">
            <a:avLst>
              <a:gd name="adj" fmla="val 6316"/>
            </a:avLst>
          </a:prstGeom>
          <a:solidFill>
            <a:schemeClr val="accent2"/>
          </a:solidFill>
          <a:ln w="12700">
            <a:solidFill>
              <a:schemeClr val="accent2"/>
            </a:solidFill>
            <a:prstDash val="solid"/>
          </a:ln>
        </p:spPr>
      </p:sp>
      <p:sp>
        <p:nvSpPr>
          <p:cNvPr id="15" name="Text 13"/>
          <p:cNvSpPr txBox="1"/>
          <p:nvPr/>
        </p:nvSpPr>
        <p:spPr>
          <a:xfrm>
            <a:off x="5532120" y="1325880"/>
            <a:ext cx="1280160" cy="868680"/>
          </a:xfrm>
          <a:prstGeom prst="rect">
            <a:avLst/>
          </a:prstGeom>
          <a:noFill/>
          <a:ln/>
        </p:spPr>
        <p:txBody>
          <a:bodyPr wrap="square" lIns="0" tIns="0" rIns="0" bIns="0" rtlCol="0" anchor="ctr"/>
          <a:lstStyle/>
          <a:p>
            <a:pPr algn="ctr" indent="0" marL="0">
              <a:buNone/>
            </a:pPr>
            <a:r>
              <a:rPr lang="en-US" sz="1400" b="1" dirty="0">
                <a:solidFill>
                  <a:schemeClr val="bg1"/>
                </a:solidFill>
              </a:rPr>
              <a:t>VFS</a:t>
            </a:r>
            <a:endParaRPr lang="en-US" sz="1400" dirty="0"/>
          </a:p>
          <a:p>
            <a:pPr algn="ctr" indent="0" marL="0">
              <a:buNone/>
            </a:pPr>
            <a:r>
              <a:rPr lang="en-US" sz="1200" dirty="0">
                <a:solidFill>
                  <a:schemeClr val="accent4"/>
                </a:solidFill>
              </a:rPr>
              <a:t>then ext4</a:t>
            </a:r>
            <a:endParaRPr lang="en-US" sz="1400" dirty="0"/>
          </a:p>
        </p:txBody>
      </p:sp>
      <p:sp>
        <p:nvSpPr>
          <p:cNvPr id="16" name="Shape 14"/>
          <p:cNvSpPr/>
          <p:nvPr/>
        </p:nvSpPr>
        <p:spPr>
          <a:xfrm>
            <a:off x="6858000" y="1760220"/>
            <a:ext cx="274320" cy="0"/>
          </a:xfrm>
          <a:prstGeom prst="line">
            <a:avLst/>
          </a:prstGeom>
          <a:noFill/>
          <a:ln w="25400">
            <a:solidFill>
              <a:schemeClr val="accent1"/>
            </a:solidFill>
            <a:prstDash val="solid"/>
            <a:tailEnd type="triangle"/>
          </a:ln>
        </p:spPr>
      </p:sp>
      <p:sp>
        <p:nvSpPr>
          <p:cNvPr id="17" name="Chain box"/>
          <p:cNvSpPr/>
          <p:nvPr/>
        </p:nvSpPr>
        <p:spPr>
          <a:xfrm>
            <a:off x="7132320" y="1325880"/>
            <a:ext cx="1371600" cy="868680"/>
          </a:xfrm>
          <a:prstGeom prst="roundRect">
            <a:avLst>
              <a:gd name="adj" fmla="val 6316"/>
            </a:avLst>
          </a:prstGeom>
          <a:solidFill>
            <a:schemeClr val="accent2"/>
          </a:solidFill>
          <a:ln w="12700">
            <a:solidFill>
              <a:schemeClr val="accent2"/>
            </a:solidFill>
            <a:prstDash val="solid"/>
          </a:ln>
        </p:spPr>
      </p:sp>
      <p:sp>
        <p:nvSpPr>
          <p:cNvPr id="18" name="Text 16"/>
          <p:cNvSpPr txBox="1"/>
          <p:nvPr/>
        </p:nvSpPr>
        <p:spPr>
          <a:xfrm>
            <a:off x="7178040" y="1325880"/>
            <a:ext cx="1280160" cy="868680"/>
          </a:xfrm>
          <a:prstGeom prst="rect">
            <a:avLst/>
          </a:prstGeom>
          <a:noFill/>
          <a:ln/>
        </p:spPr>
        <p:txBody>
          <a:bodyPr wrap="square" lIns="0" tIns="0" rIns="0" bIns="0" rtlCol="0" anchor="ctr"/>
          <a:lstStyle/>
          <a:p>
            <a:pPr algn="ctr" indent="0" marL="0">
              <a:buNone/>
            </a:pPr>
            <a:r>
              <a:rPr lang="en-US" sz="1400" b="1" dirty="0">
                <a:solidFill>
                  <a:schemeClr val="bg1"/>
                </a:solidFill>
              </a:rPr>
              <a:t>Block layer</a:t>
            </a:r>
            <a:endParaRPr lang="en-US" sz="1400" dirty="0"/>
          </a:p>
          <a:p>
            <a:pPr algn="ctr" indent="0" marL="0">
              <a:buNone/>
            </a:pPr>
            <a:r>
              <a:rPr lang="en-US" sz="1200" dirty="0">
                <a:solidFill>
                  <a:schemeClr val="accent4"/>
                </a:solidFill>
              </a:rPr>
              <a:t>then storage</a:t>
            </a:r>
            <a:endParaRPr lang="en-US" sz="1400" dirty="0"/>
          </a:p>
        </p:txBody>
      </p:sp>
      <p:sp>
        <p:nvSpPr>
          <p:cNvPr id="19" name="FS card"/>
          <p:cNvSpPr/>
          <p:nvPr/>
        </p:nvSpPr>
        <p:spPr>
          <a:xfrm>
            <a:off x="548640" y="2606040"/>
            <a:ext cx="2560320" cy="1600200"/>
          </a:xfrm>
          <a:prstGeom prst="roundRect">
            <a:avLst>
              <a:gd name="adj" fmla="val 4571"/>
            </a:avLst>
          </a:prstGeom>
          <a:solidFill>
            <a:schemeClr val="accent2"/>
          </a:solidFill>
          <a:ln w="12700">
            <a:solidFill>
              <a:schemeClr val="accent2"/>
            </a:solidFill>
            <a:prstDash val="solid"/>
          </a:ln>
        </p:spPr>
      </p:sp>
      <p:sp>
        <p:nvSpPr>
          <p:cNvPr id="20" name="Text 18"/>
          <p:cNvSpPr txBox="1"/>
          <p:nvPr/>
        </p:nvSpPr>
        <p:spPr>
          <a:xfrm>
            <a:off x="731520" y="2743200"/>
            <a:ext cx="219456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Inodes and names</a:t>
            </a:r>
            <a:endParaRPr lang="en-US" sz="1500" dirty="0"/>
          </a:p>
          <a:p>
            <a:pPr indent="0" marL="0">
              <a:spcAft>
                <a:spcPts val="600"/>
              </a:spcAft>
              <a:buNone/>
            </a:pPr>
            <a:r>
              <a:rPr lang="en-US" sz="1400" dirty="0">
                <a:solidFill>
                  <a:schemeClr val="bg1"/>
                </a:solidFill>
              </a:rPr>
              <a:t>disk.img is a directory entry pointing to an inode; ext4 maps it to extents of blocks.</a:t>
            </a:r>
            <a:endParaRPr lang="en-US" sz="1500" dirty="0"/>
          </a:p>
        </p:txBody>
      </p:sp>
      <p:sp>
        <p:nvSpPr>
          <p:cNvPr id="21" name="FS card"/>
          <p:cNvSpPr/>
          <p:nvPr/>
        </p:nvSpPr>
        <p:spPr>
          <a:xfrm>
            <a:off x="3291840" y="2606040"/>
            <a:ext cx="2560320" cy="1600200"/>
          </a:xfrm>
          <a:prstGeom prst="roundRect">
            <a:avLst>
              <a:gd name="adj" fmla="val 4571"/>
            </a:avLst>
          </a:prstGeom>
          <a:solidFill>
            <a:schemeClr val="accent2"/>
          </a:solidFill>
          <a:ln w="12700">
            <a:solidFill>
              <a:schemeClr val="accent2"/>
            </a:solidFill>
            <a:prstDash val="solid"/>
          </a:ln>
        </p:spPr>
      </p:sp>
      <p:sp>
        <p:nvSpPr>
          <p:cNvPr id="22" name="Text 20"/>
          <p:cNvSpPr txBox="1"/>
          <p:nvPr/>
        </p:nvSpPr>
        <p:spPr>
          <a:xfrm>
            <a:off x="3474720" y="2743200"/>
            <a:ext cx="219456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Buffered vs direct</a:t>
            </a:r>
            <a:endParaRPr lang="en-US" sz="1500" dirty="0"/>
          </a:p>
          <a:p>
            <a:pPr indent="0" marL="0">
              <a:spcAft>
                <a:spcPts val="600"/>
              </a:spcAft>
              <a:buNone/>
            </a:pPr>
            <a:r>
              <a:rPr lang="en-US" sz="1400" dirty="0">
                <a:solidFill>
                  <a:schemeClr val="bg1"/>
                </a:solidFill>
              </a:rPr>
              <a:t>Normal reads hit the page cache; O_DIRECT bypasses it to expose the real seek cost.</a:t>
            </a:r>
            <a:endParaRPr lang="en-US" sz="1500" dirty="0"/>
          </a:p>
        </p:txBody>
      </p:sp>
      <p:sp>
        <p:nvSpPr>
          <p:cNvPr id="23" name="FS card"/>
          <p:cNvSpPr/>
          <p:nvPr/>
        </p:nvSpPr>
        <p:spPr>
          <a:xfrm>
            <a:off x="6035040" y="2606040"/>
            <a:ext cx="2560320" cy="1600200"/>
          </a:xfrm>
          <a:prstGeom prst="roundRect">
            <a:avLst>
              <a:gd name="adj" fmla="val 4571"/>
            </a:avLst>
          </a:prstGeom>
          <a:solidFill>
            <a:schemeClr val="accent2"/>
          </a:solidFill>
          <a:ln w="12700">
            <a:solidFill>
              <a:schemeClr val="accent2"/>
            </a:solidFill>
            <a:prstDash val="solid"/>
          </a:ln>
        </p:spPr>
      </p:sp>
      <p:sp>
        <p:nvSpPr>
          <p:cNvPr id="24" name="Text 22"/>
          <p:cNvSpPr txBox="1"/>
          <p:nvPr/>
        </p:nvSpPr>
        <p:spPr>
          <a:xfrm>
            <a:off x="6217920" y="2743200"/>
            <a:ext cx="2194560" cy="137160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rPr>
              <a:t>Memory-mapped I/O</a:t>
            </a:r>
            <a:endParaRPr lang="en-US" sz="1500" dirty="0"/>
          </a:p>
          <a:p>
            <a:pPr indent="0" marL="0">
              <a:spcAft>
                <a:spcPts val="600"/>
              </a:spcAft>
              <a:buNone/>
            </a:pPr>
            <a:r>
              <a:rPr lang="en-US" sz="1400" dirty="0">
                <a:solidFill>
                  <a:schemeClr val="bg1"/>
                </a:solidFill>
              </a:rPr>
              <a:t>mmap() maps disk.img into memory, so page faults replace read() calls.</a:t>
            </a:r>
            <a:endParaRPr lang="en-US" sz="15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ag"/>
          <p:cNvSpPr/>
          <p:nvPr/>
        </p:nvSpPr>
        <p:spPr>
          <a:xfrm>
            <a:off x="548640" y="256032"/>
            <a:ext cx="1271016"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271016"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11  CO-6</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Concurrency and Synchronization</a:t>
            </a:r>
            <a:endParaRPr lang="en-US" sz="2800" dirty="0"/>
          </a:p>
        </p:txBody>
      </p:sp>
      <p:sp>
        <p:nvSpPr>
          <p:cNvPr id="5" name="Block"/>
          <p:cNvSpPr/>
          <p:nvPr/>
        </p:nvSpPr>
        <p:spPr>
          <a:xfrm>
            <a:off x="548640" y="1325880"/>
            <a:ext cx="2194560" cy="1005840"/>
          </a:xfrm>
          <a:prstGeom prst="roundRect">
            <a:avLst>
              <a:gd name="adj" fmla="val 5455"/>
            </a:avLst>
          </a:prstGeom>
          <a:solidFill>
            <a:schemeClr val="bg1"/>
          </a:solidFill>
          <a:ln w="12700">
            <a:solidFill>
              <a:schemeClr val="accent2"/>
            </a:solidFill>
            <a:prstDash val="solid"/>
          </a:ln>
        </p:spPr>
      </p:sp>
      <p:sp>
        <p:nvSpPr>
          <p:cNvPr id="6" name="Text 4"/>
          <p:cNvSpPr txBox="1"/>
          <p:nvPr/>
        </p:nvSpPr>
        <p:spPr>
          <a:xfrm>
            <a:off x="594360" y="1325880"/>
            <a:ext cx="2103120" cy="1005840"/>
          </a:xfrm>
          <a:prstGeom prst="rect">
            <a:avLst/>
          </a:prstGeom>
          <a:noFill/>
          <a:ln/>
        </p:spPr>
        <p:txBody>
          <a:bodyPr wrap="square" lIns="0" tIns="0" rIns="0" bIns="0" rtlCol="0" anchor="ctr"/>
          <a:lstStyle/>
          <a:p>
            <a:pPr algn="ctr" indent="0" marL="0">
              <a:buNone/>
            </a:pPr>
            <a:r>
              <a:rPr lang="en-US" sz="1400" b="1" dirty="0">
                <a:solidFill>
                  <a:schemeClr val="tx2"/>
                </a:solidFill>
              </a:rPr>
              <a:t>Reader threads</a:t>
            </a:r>
            <a:endParaRPr lang="en-US" sz="1400" dirty="0"/>
          </a:p>
          <a:p>
            <a:pPr algn="ctr" indent="0" marL="0">
              <a:buNone/>
            </a:pPr>
            <a:r>
              <a:rPr lang="en-US" sz="1400" b="1" dirty="0">
                <a:solidFill>
                  <a:schemeClr val="tx2"/>
                </a:solidFill>
              </a:rPr>
              <a:t>(producers)</a:t>
            </a:r>
            <a:endParaRPr lang="en-US" sz="1400" dirty="0"/>
          </a:p>
        </p:txBody>
      </p:sp>
      <p:sp>
        <p:nvSpPr>
          <p:cNvPr id="7" name="Shape 5"/>
          <p:cNvSpPr/>
          <p:nvPr/>
        </p:nvSpPr>
        <p:spPr>
          <a:xfrm>
            <a:off x="2743200" y="1828800"/>
            <a:ext cx="731520" cy="0"/>
          </a:xfrm>
          <a:prstGeom prst="line">
            <a:avLst/>
          </a:prstGeom>
          <a:noFill/>
          <a:ln w="25400">
            <a:solidFill>
              <a:schemeClr val="accent1"/>
            </a:solidFill>
            <a:prstDash val="solid"/>
            <a:tailEnd type="triangle"/>
          </a:ln>
        </p:spPr>
      </p:sp>
      <p:sp>
        <p:nvSpPr>
          <p:cNvPr id="8" name="Block"/>
          <p:cNvSpPr/>
          <p:nvPr/>
        </p:nvSpPr>
        <p:spPr>
          <a:xfrm>
            <a:off x="3474720" y="1325880"/>
            <a:ext cx="2194560" cy="1005840"/>
          </a:xfrm>
          <a:prstGeom prst="roundRect">
            <a:avLst>
              <a:gd name="adj" fmla="val 5455"/>
            </a:avLst>
          </a:prstGeom>
          <a:solidFill>
            <a:schemeClr val="accent1"/>
          </a:solidFill>
          <a:ln w="12700">
            <a:solidFill>
              <a:schemeClr val="accent2"/>
            </a:solidFill>
            <a:prstDash val="solid"/>
          </a:ln>
        </p:spPr>
      </p:sp>
      <p:sp>
        <p:nvSpPr>
          <p:cNvPr id="9" name="Text 7"/>
          <p:cNvSpPr txBox="1"/>
          <p:nvPr/>
        </p:nvSpPr>
        <p:spPr>
          <a:xfrm>
            <a:off x="3520440" y="1325880"/>
            <a:ext cx="2103120" cy="1005840"/>
          </a:xfrm>
          <a:prstGeom prst="rect">
            <a:avLst/>
          </a:prstGeom>
          <a:noFill/>
          <a:ln/>
        </p:spPr>
        <p:txBody>
          <a:bodyPr wrap="square" lIns="0" tIns="0" rIns="0" bIns="0" rtlCol="0" anchor="ctr"/>
          <a:lstStyle/>
          <a:p>
            <a:pPr algn="ctr" indent="0" marL="0">
              <a:buNone/>
            </a:pPr>
            <a:r>
              <a:rPr lang="en-US" sz="1400" b="1" dirty="0">
                <a:solidFill>
                  <a:schemeClr val="tx2"/>
                </a:solidFill>
              </a:rPr>
              <a:t>Bounded queue</a:t>
            </a:r>
            <a:endParaRPr lang="en-US" sz="1400" dirty="0"/>
          </a:p>
          <a:p>
            <a:pPr algn="ctr" indent="0" marL="0">
              <a:buNone/>
            </a:pPr>
            <a:r>
              <a:rPr lang="en-US" sz="1400" b="1" dirty="0">
                <a:solidFill>
                  <a:schemeClr val="tx2"/>
                </a:solidFill>
              </a:rPr>
              <a:t>mutex + condvars</a:t>
            </a:r>
            <a:endParaRPr lang="en-US" sz="1400" dirty="0"/>
          </a:p>
        </p:txBody>
      </p:sp>
      <p:sp>
        <p:nvSpPr>
          <p:cNvPr id="10" name="Shape 8"/>
          <p:cNvSpPr/>
          <p:nvPr/>
        </p:nvSpPr>
        <p:spPr>
          <a:xfrm>
            <a:off x="5669280" y="1828800"/>
            <a:ext cx="731520" cy="0"/>
          </a:xfrm>
          <a:prstGeom prst="line">
            <a:avLst/>
          </a:prstGeom>
          <a:noFill/>
          <a:ln w="25400">
            <a:solidFill>
              <a:schemeClr val="accent1"/>
            </a:solidFill>
            <a:prstDash val="solid"/>
            <a:tailEnd type="triangle"/>
          </a:ln>
        </p:spPr>
      </p:sp>
      <p:sp>
        <p:nvSpPr>
          <p:cNvPr id="11" name="Block"/>
          <p:cNvSpPr/>
          <p:nvPr/>
        </p:nvSpPr>
        <p:spPr>
          <a:xfrm>
            <a:off x="6400800" y="1325880"/>
            <a:ext cx="2194560" cy="1005840"/>
          </a:xfrm>
          <a:prstGeom prst="roundRect">
            <a:avLst>
              <a:gd name="adj" fmla="val 5455"/>
            </a:avLst>
          </a:prstGeom>
          <a:solidFill>
            <a:schemeClr val="bg1"/>
          </a:solidFill>
          <a:ln w="12700">
            <a:solidFill>
              <a:schemeClr val="accent2"/>
            </a:solidFill>
            <a:prstDash val="solid"/>
          </a:ln>
        </p:spPr>
      </p:sp>
      <p:sp>
        <p:nvSpPr>
          <p:cNvPr id="12" name="Text 10"/>
          <p:cNvSpPr txBox="1"/>
          <p:nvPr/>
        </p:nvSpPr>
        <p:spPr>
          <a:xfrm>
            <a:off x="6446520" y="1325880"/>
            <a:ext cx="2103120" cy="1005840"/>
          </a:xfrm>
          <a:prstGeom prst="rect">
            <a:avLst/>
          </a:prstGeom>
          <a:noFill/>
          <a:ln/>
        </p:spPr>
        <p:txBody>
          <a:bodyPr wrap="square" lIns="0" tIns="0" rIns="0" bIns="0" rtlCol="0" anchor="ctr"/>
          <a:lstStyle/>
          <a:p>
            <a:pPr algn="ctr" indent="0" marL="0">
              <a:buNone/>
            </a:pPr>
            <a:r>
              <a:rPr lang="en-US" sz="1400" b="1" dirty="0">
                <a:solidFill>
                  <a:schemeClr val="tx2"/>
                </a:solidFill>
              </a:rPr>
              <a:t>Dispatcher thread</a:t>
            </a:r>
            <a:endParaRPr lang="en-US" sz="1400" dirty="0"/>
          </a:p>
          <a:p>
            <a:pPr algn="ctr" indent="0" marL="0">
              <a:buNone/>
            </a:pPr>
            <a:r>
              <a:rPr lang="en-US" sz="1400" b="1" dirty="0">
                <a:solidFill>
                  <a:schemeClr val="tx2"/>
                </a:solidFill>
              </a:rPr>
              <a:t>(consumer)</a:t>
            </a:r>
            <a:endParaRPr lang="en-US" sz="1400" dirty="0"/>
          </a:p>
        </p:txBody>
      </p:sp>
      <p:sp>
        <p:nvSpPr>
          <p:cNvPr id="13" name="Sync card"/>
          <p:cNvSpPr/>
          <p:nvPr/>
        </p:nvSpPr>
        <p:spPr>
          <a:xfrm>
            <a:off x="548640" y="2788920"/>
            <a:ext cx="18745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85800" y="2907792"/>
            <a:ext cx="1600200" cy="128016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Race conditions</a:t>
            </a:r>
            <a:endParaRPr lang="en-US" sz="1500" dirty="0"/>
          </a:p>
          <a:p>
            <a:pPr indent="0" marL="0">
              <a:spcAft>
                <a:spcPts val="500"/>
              </a:spcAft>
              <a:buNone/>
            </a:pPr>
            <a:r>
              <a:rPr lang="en-US" sz="1400" dirty="0">
                <a:solidFill>
                  <a:schemeClr val="tx1"/>
                </a:solidFill>
              </a:rPr>
              <a:t>Queue and stats are shared, so every access is locked.</a:t>
            </a:r>
            <a:endParaRPr lang="en-US" sz="1500" dirty="0"/>
          </a:p>
        </p:txBody>
      </p:sp>
      <p:sp>
        <p:nvSpPr>
          <p:cNvPr id="15" name="Sync card"/>
          <p:cNvSpPr/>
          <p:nvPr/>
        </p:nvSpPr>
        <p:spPr>
          <a:xfrm>
            <a:off x="2606040" y="2788920"/>
            <a:ext cx="18745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2743200" y="2907792"/>
            <a:ext cx="1600200" cy="128016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Mutex + condvar</a:t>
            </a:r>
            <a:endParaRPr lang="en-US" sz="1500" dirty="0"/>
          </a:p>
          <a:p>
            <a:pPr indent="0" marL="0">
              <a:spcAft>
                <a:spcPts val="500"/>
              </a:spcAft>
              <a:buNone/>
            </a:pPr>
            <a:r>
              <a:rPr lang="en-US" sz="1400" dirty="0">
                <a:solidFill>
                  <a:schemeClr val="tx1"/>
                </a:solidFill>
              </a:rPr>
              <a:t>cond_wait sleeps the dispatcher until a request arrives.</a:t>
            </a:r>
            <a:endParaRPr lang="en-US" sz="1500" dirty="0"/>
          </a:p>
        </p:txBody>
      </p:sp>
      <p:sp>
        <p:nvSpPr>
          <p:cNvPr id="17" name="Sync card"/>
          <p:cNvSpPr/>
          <p:nvPr/>
        </p:nvSpPr>
        <p:spPr>
          <a:xfrm>
            <a:off x="4663440" y="2788920"/>
            <a:ext cx="18745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4800600" y="2907792"/>
            <a:ext cx="1600200" cy="128016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Counting semaphore</a:t>
            </a:r>
            <a:endParaRPr lang="en-US" sz="1500" dirty="0"/>
          </a:p>
          <a:p>
            <a:pPr indent="0" marL="0">
              <a:spcAft>
                <a:spcPts val="500"/>
              </a:spcAft>
              <a:buNone/>
            </a:pPr>
            <a:r>
              <a:rPr lang="en-US" sz="1400" dirty="0">
                <a:solidFill>
                  <a:schemeClr val="tx1"/>
                </a:solidFill>
              </a:rPr>
              <a:t>sem_t slots cap the queue; producers block when full.</a:t>
            </a:r>
            <a:endParaRPr lang="en-US" sz="1500" dirty="0"/>
          </a:p>
        </p:txBody>
      </p:sp>
      <p:sp>
        <p:nvSpPr>
          <p:cNvPr id="19" name="Sync card"/>
          <p:cNvSpPr/>
          <p:nvPr/>
        </p:nvSpPr>
        <p:spPr>
          <a:xfrm>
            <a:off x="6720840" y="2788920"/>
            <a:ext cx="1874520" cy="1508760"/>
          </a:xfrm>
          <a:prstGeom prst="roundRect">
            <a:avLst>
              <a:gd name="adj" fmla="val 4848"/>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6858000" y="2907792"/>
            <a:ext cx="1600200" cy="1280160"/>
          </a:xfrm>
          <a:prstGeom prst="rect">
            <a:avLst/>
          </a:prstGeom>
          <a:noFill/>
          <a:ln/>
        </p:spPr>
        <p:txBody>
          <a:bodyPr wrap="square" lIns="0" tIns="0" rIns="0" bIns="0" rtlCol="0" anchor="t"/>
          <a:lstStyle/>
          <a:p>
            <a:pPr indent="0" marL="0">
              <a:spcAft>
                <a:spcPts val="500"/>
              </a:spcAft>
              <a:buNone/>
            </a:pPr>
            <a:r>
              <a:rPr lang="en-US" sz="1500" b="1" dirty="0">
                <a:solidFill>
                  <a:schemeClr val="tx2"/>
                </a:solidFill>
              </a:rPr>
              <a:t>Deadlock safety</a:t>
            </a:r>
            <a:endParaRPr lang="en-US" sz="1500" dirty="0"/>
          </a:p>
          <a:p>
            <a:pPr indent="0" marL="0">
              <a:spcAft>
                <a:spcPts val="500"/>
              </a:spcAft>
              <a:buNone/>
            </a:pPr>
            <a:r>
              <a:rPr lang="en-US" sz="1400" dirty="0">
                <a:solidFill>
                  <a:schemeClr val="tx1"/>
                </a:solidFill>
              </a:rPr>
              <a:t>One lock order and no nested locks, so no circular wait.</a:t>
            </a:r>
            <a:endParaRPr lang="en-US" sz="15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ag"/>
          <p:cNvSpPr/>
          <p:nvPr/>
        </p:nvSpPr>
        <p:spPr>
          <a:xfrm>
            <a:off x="548640" y="256032"/>
            <a:ext cx="2103120"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2103120"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12  METHODOLOGY</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Procedure / Methodology</a:t>
            </a:r>
            <a:endParaRPr lang="en-US" sz="2800" dirty="0"/>
          </a:p>
        </p:txBody>
      </p:sp>
      <p:sp>
        <p:nvSpPr>
          <p:cNvPr id="5" name="Step card"/>
          <p:cNvSpPr/>
          <p:nvPr/>
        </p:nvSpPr>
        <p:spPr>
          <a:xfrm>
            <a:off x="548640" y="132588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Step number"/>
          <p:cNvSpPr/>
          <p:nvPr/>
        </p:nvSpPr>
        <p:spPr>
          <a:xfrm>
            <a:off x="731520" y="1463040"/>
            <a:ext cx="365760" cy="36576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Text 6"/>
          <p:cNvSpPr txBox="1"/>
          <p:nvPr/>
        </p:nvSpPr>
        <p:spPr>
          <a:xfrm>
            <a:off x="1234440" y="1463040"/>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Create disk</a:t>
            </a:r>
            <a:endParaRPr lang="en-US" sz="1500" dirty="0"/>
          </a:p>
        </p:txBody>
      </p:sp>
      <p:sp>
        <p:nvSpPr>
          <p:cNvPr id="9" name="Text 7"/>
          <p:cNvSpPr txBox="1"/>
          <p:nvPr/>
        </p:nvSpPr>
        <p:spPr>
          <a:xfrm>
            <a:off x="731520" y="1920240"/>
            <a:ext cx="2240280" cy="777240"/>
          </a:xfrm>
          <a:prstGeom prst="rect">
            <a:avLst/>
          </a:prstGeom>
          <a:noFill/>
          <a:ln/>
        </p:spPr>
        <p:txBody>
          <a:bodyPr wrap="square" lIns="0" tIns="0" rIns="0" bIns="0" rtlCol="0" anchor="t"/>
          <a:lstStyle/>
          <a:p>
            <a:pPr indent="0" marL="0">
              <a:buNone/>
            </a:pPr>
            <a:r>
              <a:rPr lang="en-US" sz="1400" dirty="0">
                <a:solidFill>
                  <a:schemeClr val="tx1"/>
                </a:solidFill>
              </a:rPr>
              <a:t>Build disk.img as N blocks and open it with a file descriptor.</a:t>
            </a:r>
            <a:endParaRPr lang="en-US" sz="1400" dirty="0"/>
          </a:p>
        </p:txBody>
      </p:sp>
      <p:sp>
        <p:nvSpPr>
          <p:cNvPr id="10" name="Step card"/>
          <p:cNvSpPr/>
          <p:nvPr/>
        </p:nvSpPr>
        <p:spPr>
          <a:xfrm>
            <a:off x="3291840" y="132588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1" name="Step number"/>
          <p:cNvSpPr/>
          <p:nvPr/>
        </p:nvSpPr>
        <p:spPr>
          <a:xfrm>
            <a:off x="3474720" y="1463040"/>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3474720" y="146304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3" name="Text 11"/>
          <p:cNvSpPr txBox="1"/>
          <p:nvPr/>
        </p:nvSpPr>
        <p:spPr>
          <a:xfrm>
            <a:off x="3977640" y="1463040"/>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Start daemon</a:t>
            </a:r>
            <a:endParaRPr lang="en-US" sz="1500" dirty="0"/>
          </a:p>
        </p:txBody>
      </p:sp>
      <p:sp>
        <p:nvSpPr>
          <p:cNvPr id="14" name="Text 12"/>
          <p:cNvSpPr txBox="1"/>
          <p:nvPr/>
        </p:nvSpPr>
        <p:spPr>
          <a:xfrm>
            <a:off x="3474720" y="1920240"/>
            <a:ext cx="2240280" cy="777240"/>
          </a:xfrm>
          <a:prstGeom prst="rect">
            <a:avLst/>
          </a:prstGeom>
          <a:noFill/>
          <a:ln/>
        </p:spPr>
        <p:txBody>
          <a:bodyPr wrap="square" lIns="0" tIns="0" rIns="0" bIns="0" rtlCol="0" anchor="t"/>
          <a:lstStyle/>
          <a:p>
            <a:pPr indent="0" marL="0">
              <a:buNone/>
            </a:pPr>
            <a:r>
              <a:rPr lang="en-US" sz="1400" dirty="0">
                <a:solidFill>
                  <a:schemeClr val="tx1"/>
                </a:solidFill>
              </a:rPr>
              <a:t>Create the FIFO, install signal handlers, start worker threads.</a:t>
            </a:r>
            <a:endParaRPr lang="en-US" sz="1400" dirty="0"/>
          </a:p>
        </p:txBody>
      </p:sp>
      <p:sp>
        <p:nvSpPr>
          <p:cNvPr id="15" name="Step card"/>
          <p:cNvSpPr/>
          <p:nvPr/>
        </p:nvSpPr>
        <p:spPr>
          <a:xfrm>
            <a:off x="6035040" y="132588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6" name="Step number"/>
          <p:cNvSpPr/>
          <p:nvPr/>
        </p:nvSpPr>
        <p:spPr>
          <a:xfrm>
            <a:off x="6217920" y="1463040"/>
            <a:ext cx="365760" cy="365760"/>
          </a:xfrm>
          <a:prstGeom prst="ellipse">
            <a:avLst/>
          </a:prstGeom>
          <a:solidFill>
            <a:schemeClr val="accent1"/>
          </a:solidFill>
          <a:ln w="12700">
            <a:solidFill>
              <a:schemeClr val="accent1"/>
            </a:solidFill>
            <a:prstDash val="solid"/>
          </a:ln>
        </p:spPr>
      </p:sp>
      <p:sp>
        <p:nvSpPr>
          <p:cNvPr id="17" name="Text 15"/>
          <p:cNvSpPr txBox="1"/>
          <p:nvPr/>
        </p:nvSpPr>
        <p:spPr>
          <a:xfrm>
            <a:off x="6217920" y="146304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8" name="Text 16"/>
          <p:cNvSpPr txBox="1"/>
          <p:nvPr/>
        </p:nvSpPr>
        <p:spPr>
          <a:xfrm>
            <a:off x="6720840" y="1463040"/>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Accept requests</a:t>
            </a:r>
            <a:endParaRPr lang="en-US" sz="1500" dirty="0"/>
          </a:p>
        </p:txBody>
      </p:sp>
      <p:sp>
        <p:nvSpPr>
          <p:cNvPr id="19" name="Text 17"/>
          <p:cNvSpPr txBox="1"/>
          <p:nvPr/>
        </p:nvSpPr>
        <p:spPr>
          <a:xfrm>
            <a:off x="6217920" y="1920240"/>
            <a:ext cx="2240280" cy="777240"/>
          </a:xfrm>
          <a:prstGeom prst="rect">
            <a:avLst/>
          </a:prstGeom>
          <a:noFill/>
          <a:ln/>
        </p:spPr>
        <p:txBody>
          <a:bodyPr wrap="square" lIns="0" tIns="0" rIns="0" bIns="0" rtlCol="0" anchor="t"/>
          <a:lstStyle/>
          <a:p>
            <a:pPr indent="0" marL="0">
              <a:buNone/>
            </a:pPr>
            <a:r>
              <a:rPr lang="en-US" sz="1400" dirty="0">
                <a:solidFill>
                  <a:schemeClr val="tx1"/>
                </a:solidFill>
              </a:rPr>
              <a:t>Forked clients write block numbers into the FIFO.</a:t>
            </a:r>
            <a:endParaRPr lang="en-US" sz="1400" dirty="0"/>
          </a:p>
        </p:txBody>
      </p:sp>
      <p:sp>
        <p:nvSpPr>
          <p:cNvPr id="20" name="Step card"/>
          <p:cNvSpPr/>
          <p:nvPr/>
        </p:nvSpPr>
        <p:spPr>
          <a:xfrm>
            <a:off x="548640" y="297180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Step number"/>
          <p:cNvSpPr/>
          <p:nvPr/>
        </p:nvSpPr>
        <p:spPr>
          <a:xfrm>
            <a:off x="731520" y="3108960"/>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731520" y="310896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3" name="Text 21"/>
          <p:cNvSpPr txBox="1"/>
          <p:nvPr/>
        </p:nvSpPr>
        <p:spPr>
          <a:xfrm>
            <a:off x="1234440" y="3108960"/>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Choose policy</a:t>
            </a:r>
            <a:endParaRPr lang="en-US" sz="1500" dirty="0"/>
          </a:p>
        </p:txBody>
      </p:sp>
      <p:sp>
        <p:nvSpPr>
          <p:cNvPr id="24" name="Text 22"/>
          <p:cNvSpPr txBox="1"/>
          <p:nvPr/>
        </p:nvSpPr>
        <p:spPr>
          <a:xfrm>
            <a:off x="731520" y="3566160"/>
            <a:ext cx="2240280" cy="777240"/>
          </a:xfrm>
          <a:prstGeom prst="rect">
            <a:avLst/>
          </a:prstGeom>
          <a:noFill/>
          <a:ln/>
        </p:spPr>
        <p:txBody>
          <a:bodyPr wrap="square" lIns="0" tIns="0" rIns="0" bIns="0" rtlCol="0" anchor="t"/>
          <a:lstStyle/>
          <a:p>
            <a:pPr indent="0" marL="0">
              <a:buNone/>
            </a:pPr>
            <a:r>
              <a:rPr lang="en-US" sz="1400" dirty="0">
                <a:solidFill>
                  <a:schemeClr val="tx1"/>
                </a:solidFill>
              </a:rPr>
              <a:t>Engine scores queue length, spread and age, then picks an algorithm.</a:t>
            </a:r>
            <a:endParaRPr lang="en-US" sz="1400" dirty="0"/>
          </a:p>
        </p:txBody>
      </p:sp>
      <p:sp>
        <p:nvSpPr>
          <p:cNvPr id="25" name="Step card"/>
          <p:cNvSpPr/>
          <p:nvPr/>
        </p:nvSpPr>
        <p:spPr>
          <a:xfrm>
            <a:off x="3291840" y="297180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6" name="Step number"/>
          <p:cNvSpPr/>
          <p:nvPr/>
        </p:nvSpPr>
        <p:spPr>
          <a:xfrm>
            <a:off x="3474720" y="3108960"/>
            <a:ext cx="365760" cy="365760"/>
          </a:xfrm>
          <a:prstGeom prst="ellipse">
            <a:avLst/>
          </a:prstGeom>
          <a:solidFill>
            <a:schemeClr val="accent1"/>
          </a:solidFill>
          <a:ln w="12700">
            <a:solidFill>
              <a:schemeClr val="accent1"/>
            </a:solidFill>
            <a:prstDash val="solid"/>
          </a:ln>
        </p:spPr>
      </p:sp>
      <p:sp>
        <p:nvSpPr>
          <p:cNvPr id="27" name="Text 25"/>
          <p:cNvSpPr txBox="1"/>
          <p:nvPr/>
        </p:nvSpPr>
        <p:spPr>
          <a:xfrm>
            <a:off x="3474720" y="310896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8" name="Text 26"/>
          <p:cNvSpPr txBox="1"/>
          <p:nvPr/>
        </p:nvSpPr>
        <p:spPr>
          <a:xfrm>
            <a:off x="3977640" y="3108960"/>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Dispatch I/O</a:t>
            </a:r>
            <a:endParaRPr lang="en-US" sz="1500" dirty="0"/>
          </a:p>
        </p:txBody>
      </p:sp>
      <p:sp>
        <p:nvSpPr>
          <p:cNvPr id="29" name="Text 27"/>
          <p:cNvSpPr txBox="1"/>
          <p:nvPr/>
        </p:nvSpPr>
        <p:spPr>
          <a:xfrm>
            <a:off x="3474720" y="3566160"/>
            <a:ext cx="2240280" cy="777240"/>
          </a:xfrm>
          <a:prstGeom prst="rect">
            <a:avLst/>
          </a:prstGeom>
          <a:noFill/>
          <a:ln/>
        </p:spPr>
        <p:txBody>
          <a:bodyPr wrap="square" lIns="0" tIns="0" rIns="0" bIns="0" rtlCol="0" anchor="t"/>
          <a:lstStyle/>
          <a:p>
            <a:pPr indent="0" marL="0">
              <a:buNone/>
            </a:pPr>
            <a:r>
              <a:rPr lang="en-US" sz="1400" dirty="0">
                <a:solidFill>
                  <a:schemeClr val="tx1"/>
                </a:solidFill>
              </a:rPr>
              <a:t>Dispatcher pops the next block and serves it with pread().</a:t>
            </a:r>
            <a:endParaRPr lang="en-US" sz="1400" dirty="0"/>
          </a:p>
        </p:txBody>
      </p:sp>
      <p:sp>
        <p:nvSpPr>
          <p:cNvPr id="30" name="Step card"/>
          <p:cNvSpPr/>
          <p:nvPr/>
        </p:nvSpPr>
        <p:spPr>
          <a:xfrm>
            <a:off x="6035040" y="2971800"/>
            <a:ext cx="2560320" cy="146304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1" name="Step number"/>
          <p:cNvSpPr/>
          <p:nvPr/>
        </p:nvSpPr>
        <p:spPr>
          <a:xfrm>
            <a:off x="6217920" y="3108960"/>
            <a:ext cx="365760" cy="365760"/>
          </a:xfrm>
          <a:prstGeom prst="ellipse">
            <a:avLst/>
          </a:prstGeom>
          <a:solidFill>
            <a:schemeClr val="accent1"/>
          </a:solidFill>
          <a:ln w="12700">
            <a:solidFill>
              <a:schemeClr val="accent1"/>
            </a:solidFill>
            <a:prstDash val="solid"/>
          </a:ln>
        </p:spPr>
      </p:sp>
      <p:sp>
        <p:nvSpPr>
          <p:cNvPr id="32" name="Text 30"/>
          <p:cNvSpPr txBox="1"/>
          <p:nvPr/>
        </p:nvSpPr>
        <p:spPr>
          <a:xfrm>
            <a:off x="6217920" y="310896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33" name="Text 31"/>
          <p:cNvSpPr txBox="1"/>
          <p:nvPr/>
        </p:nvSpPr>
        <p:spPr>
          <a:xfrm>
            <a:off x="6720840" y="3108960"/>
            <a:ext cx="1737360" cy="365760"/>
          </a:xfrm>
          <a:prstGeom prst="rect">
            <a:avLst/>
          </a:prstGeom>
          <a:noFill/>
          <a:ln/>
        </p:spPr>
        <p:txBody>
          <a:bodyPr wrap="square" lIns="0" tIns="0" rIns="0" bIns="0" rtlCol="0" anchor="ctr"/>
          <a:lstStyle/>
          <a:p>
            <a:pPr indent="0" marL="0">
              <a:buNone/>
            </a:pPr>
            <a:r>
              <a:rPr lang="en-US" sz="1500" b="1" dirty="0">
                <a:solidFill>
                  <a:schemeClr val="tx2"/>
                </a:solidFill>
              </a:rPr>
              <a:t>Report</a:t>
            </a:r>
            <a:endParaRPr lang="en-US" sz="1500" dirty="0"/>
          </a:p>
        </p:txBody>
      </p:sp>
      <p:sp>
        <p:nvSpPr>
          <p:cNvPr id="34" name="Text 32"/>
          <p:cNvSpPr txBox="1"/>
          <p:nvPr/>
        </p:nvSpPr>
        <p:spPr>
          <a:xfrm>
            <a:off x="6217920" y="3566160"/>
            <a:ext cx="2240280" cy="777240"/>
          </a:xfrm>
          <a:prstGeom prst="rect">
            <a:avLst/>
          </a:prstGeom>
          <a:noFill/>
          <a:ln/>
        </p:spPr>
        <p:txBody>
          <a:bodyPr wrap="square" lIns="0" tIns="0" rIns="0" bIns="0" rtlCol="0" anchor="t"/>
          <a:lstStyle/>
          <a:p>
            <a:pPr indent="0" marL="0">
              <a:buNone/>
            </a:pPr>
            <a:r>
              <a:rPr lang="en-US" sz="1400" dirty="0">
                <a:solidFill>
                  <a:schemeClr val="tx1"/>
                </a:solidFill>
              </a:rPr>
              <a:t>Print total seek distance, average wait and throughput per policy.</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ag"/>
          <p:cNvSpPr/>
          <p:nvPr/>
        </p:nvSpPr>
        <p:spPr>
          <a:xfrm>
            <a:off x="548640" y="256032"/>
            <a:ext cx="1627632"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627632"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13  RESULTS</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Expected Results</a:t>
            </a:r>
            <a:endParaRPr lang="en-US" sz="2800" dirty="0"/>
          </a:p>
        </p:txBody>
      </p:sp>
      <p:graphicFrame>
        <p:nvGraphicFramePr>
          <p:cNvPr id="5" name="Chart 0" descr=""/>
          <p:cNvGraphicFramePr/>
          <p:nvPr/>
        </p:nvGraphicFramePr>
        <p:xfrm>
          <a:off x="548640" y="1280160"/>
          <a:ext cx="4846320" cy="2880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206240"/>
            <a:ext cx="4846320" cy="411480"/>
          </a:xfrm>
          <a:prstGeom prst="rect">
            <a:avLst/>
          </a:prstGeom>
          <a:noFill/>
          <a:ln/>
        </p:spPr>
        <p:txBody>
          <a:bodyPr wrap="square" lIns="0" tIns="0" rIns="0" bIns="0" rtlCol="0" anchor="t"/>
          <a:lstStyle/>
          <a:p>
            <a:pPr indent="0" marL="0">
              <a:buNone/>
            </a:pPr>
            <a:r>
              <a:rPr lang="en-US" sz="1100" dirty="0">
                <a:solidFill>
                  <a:schemeClr val="accent2"/>
                </a:solidFill>
              </a:rPr>
              <a:t>Worked example: head at 53; queue 98, 183, 37, 122, 14, 124, 65, 67; cylinders 0 to 199.</a:t>
            </a:r>
            <a:endParaRPr lang="en-US" sz="1100" dirty="0"/>
          </a:p>
        </p:txBody>
      </p:sp>
      <p:sp>
        <p:nvSpPr>
          <p:cNvPr id="7" name="Text 4"/>
          <p:cNvSpPr txBox="1"/>
          <p:nvPr/>
        </p:nvSpPr>
        <p:spPr>
          <a:xfrm>
            <a:off x="5715000" y="1371600"/>
            <a:ext cx="2880360" cy="3200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LOOK cuts head movement by 53% and SSTF by 63% versus FCFS in the example</a:t>
            </a:r>
            <a:endParaRPr lang="en-US" sz="1400" dirty="0"/>
          </a:p>
          <a:p>
            <a:pPr marL="177800" indent="-177800">
              <a:spcAft>
                <a:spcPts val="800"/>
              </a:spcAft>
              <a:buSzPct val="100000"/>
              <a:buChar char="•"/>
            </a:pPr>
            <a:r>
              <a:rPr lang="en-US" sz="1400" dirty="0">
                <a:solidFill>
                  <a:schemeClr val="tx1"/>
                </a:solidFill>
              </a:rPr>
              <a:t>Aging bounds the longest wait, so no request starves</a:t>
            </a:r>
            <a:endParaRPr lang="en-US" sz="1400" dirty="0"/>
          </a:p>
          <a:p>
            <a:pPr marL="177800" indent="-177800">
              <a:spcAft>
                <a:spcPts val="800"/>
              </a:spcAft>
              <a:buSzPct val="100000"/>
              <a:buChar char="•"/>
            </a:pPr>
            <a:r>
              <a:rPr lang="en-US" sz="1400" dirty="0">
                <a:solidFill>
                  <a:schemeClr val="tx1"/>
                </a:solidFill>
              </a:rPr>
              <a:t>Daemon exits cleanly on SIGINT with no leaks in Valgrind</a:t>
            </a:r>
            <a:endParaRPr lang="en-US" sz="1400" dirty="0"/>
          </a:p>
          <a:p>
            <a:pPr marL="177800" indent="-177800">
              <a:spcAft>
                <a:spcPts val="800"/>
              </a:spcAft>
              <a:buSzPct val="100000"/>
              <a:buChar char="•"/>
            </a:pPr>
            <a:r>
              <a:rPr lang="en-US" sz="1400" dirty="0">
                <a:solidFill>
                  <a:schemeClr val="tx1"/>
                </a:solidFill>
              </a:rPr>
              <a:t>Report lists seek distance, wait and throughput per policy</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ag"/>
          <p:cNvSpPr/>
          <p:nvPr/>
        </p:nvSpPr>
        <p:spPr>
          <a:xfrm>
            <a:off x="548640" y="256032"/>
            <a:ext cx="2221992"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2221992"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14  FUTURE SCOPE</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bg1"/>
                </a:solidFill>
              </a:rPr>
              <a:t>Work Pending / Future Work</a:t>
            </a:r>
            <a:endParaRPr lang="en-US" sz="2800" dirty="0"/>
          </a:p>
        </p:txBody>
      </p:sp>
      <p:sp>
        <p:nvSpPr>
          <p:cNvPr id="5" name="Future card"/>
          <p:cNvSpPr/>
          <p:nvPr/>
        </p:nvSpPr>
        <p:spPr>
          <a:xfrm>
            <a:off x="548640" y="1325880"/>
            <a:ext cx="2560320" cy="1463040"/>
          </a:xfrm>
          <a:prstGeom prst="roundRect">
            <a:avLst>
              <a:gd name="adj" fmla="val 5000"/>
            </a:avLst>
          </a:prstGeom>
          <a:solidFill>
            <a:schemeClr val="accent2"/>
          </a:solidFill>
          <a:ln w="12700">
            <a:solidFill>
              <a:schemeClr val="accent2"/>
            </a:solidFill>
            <a:prstDash val="solid"/>
          </a:ln>
        </p:spPr>
      </p:sp>
      <p:sp>
        <p:nvSpPr>
          <p:cNvPr id="6" name="Step number"/>
          <p:cNvSpPr/>
          <p:nvPr/>
        </p:nvSpPr>
        <p:spPr>
          <a:xfrm>
            <a:off x="731520" y="1463040"/>
            <a:ext cx="365760" cy="36576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Text 6"/>
          <p:cNvSpPr txBox="1"/>
          <p:nvPr/>
        </p:nvSpPr>
        <p:spPr>
          <a:xfrm>
            <a:off x="1234440" y="1463040"/>
            <a:ext cx="1737360" cy="365760"/>
          </a:xfrm>
          <a:prstGeom prst="rect">
            <a:avLst/>
          </a:prstGeom>
          <a:noFill/>
          <a:ln/>
        </p:spPr>
        <p:txBody>
          <a:bodyPr wrap="square" lIns="0" tIns="0" rIns="0" bIns="0" rtlCol="0" anchor="ctr"/>
          <a:lstStyle/>
          <a:p>
            <a:pPr indent="0" marL="0">
              <a:buNone/>
            </a:pPr>
            <a:r>
              <a:rPr lang="en-US" sz="1500" b="1" dirty="0">
                <a:solidFill>
                  <a:schemeClr val="bg1"/>
                </a:solidFill>
              </a:rPr>
              <a:t>Learned prediction</a:t>
            </a:r>
            <a:endParaRPr lang="en-US" sz="1500" dirty="0"/>
          </a:p>
        </p:txBody>
      </p:sp>
      <p:sp>
        <p:nvSpPr>
          <p:cNvPr id="9" name="Text 7"/>
          <p:cNvSpPr txBox="1"/>
          <p:nvPr/>
        </p:nvSpPr>
        <p:spPr>
          <a:xfrm>
            <a:off x="731520" y="1920240"/>
            <a:ext cx="2240280" cy="777240"/>
          </a:xfrm>
          <a:prstGeom prst="rect">
            <a:avLst/>
          </a:prstGeom>
          <a:noFill/>
          <a:ln/>
        </p:spPr>
        <p:txBody>
          <a:bodyPr wrap="square" lIns="0" tIns="0" rIns="0" bIns="0" rtlCol="0" anchor="t"/>
          <a:lstStyle/>
          <a:p>
            <a:pPr indent="0" marL="0">
              <a:buNone/>
            </a:pPr>
            <a:r>
              <a:rPr lang="en-US" sz="1400" dirty="0">
                <a:solidFill>
                  <a:schemeClr val="accent4"/>
                </a:solidFill>
              </a:rPr>
              <a:t>Use past access patterns to choose the policy ahead of time.</a:t>
            </a:r>
            <a:endParaRPr lang="en-US" sz="1400" dirty="0"/>
          </a:p>
        </p:txBody>
      </p:sp>
      <p:sp>
        <p:nvSpPr>
          <p:cNvPr id="10" name="Future card"/>
          <p:cNvSpPr/>
          <p:nvPr/>
        </p:nvSpPr>
        <p:spPr>
          <a:xfrm>
            <a:off x="3291840" y="1325880"/>
            <a:ext cx="2560320" cy="1463040"/>
          </a:xfrm>
          <a:prstGeom prst="roundRect">
            <a:avLst>
              <a:gd name="adj" fmla="val 5000"/>
            </a:avLst>
          </a:prstGeom>
          <a:solidFill>
            <a:schemeClr val="accent2"/>
          </a:solidFill>
          <a:ln w="12700">
            <a:solidFill>
              <a:schemeClr val="accent2"/>
            </a:solidFill>
            <a:prstDash val="solid"/>
          </a:ln>
        </p:spPr>
      </p:sp>
      <p:sp>
        <p:nvSpPr>
          <p:cNvPr id="11" name="Step number"/>
          <p:cNvSpPr/>
          <p:nvPr/>
        </p:nvSpPr>
        <p:spPr>
          <a:xfrm>
            <a:off x="3474720" y="1463040"/>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3474720" y="146304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3" name="Text 11"/>
          <p:cNvSpPr txBox="1"/>
          <p:nvPr/>
        </p:nvSpPr>
        <p:spPr>
          <a:xfrm>
            <a:off x="3977640" y="1463040"/>
            <a:ext cx="1737360" cy="365760"/>
          </a:xfrm>
          <a:prstGeom prst="rect">
            <a:avLst/>
          </a:prstGeom>
          <a:noFill/>
          <a:ln/>
        </p:spPr>
        <p:txBody>
          <a:bodyPr wrap="square" lIns="0" tIns="0" rIns="0" bIns="0" rtlCol="0" anchor="ctr"/>
          <a:lstStyle/>
          <a:p>
            <a:pPr indent="0" marL="0">
              <a:buNone/>
            </a:pPr>
            <a:r>
              <a:rPr lang="en-US" sz="1500" b="1" dirty="0">
                <a:solidFill>
                  <a:schemeClr val="bg1"/>
                </a:solidFill>
              </a:rPr>
              <a:t>Real block devices</a:t>
            </a:r>
            <a:endParaRPr lang="en-US" sz="1500" dirty="0"/>
          </a:p>
        </p:txBody>
      </p:sp>
      <p:sp>
        <p:nvSpPr>
          <p:cNvPr id="14" name="Text 12"/>
          <p:cNvSpPr txBox="1"/>
          <p:nvPr/>
        </p:nvSpPr>
        <p:spPr>
          <a:xfrm>
            <a:off x="3474720" y="1920240"/>
            <a:ext cx="2240280" cy="777240"/>
          </a:xfrm>
          <a:prstGeom prst="rect">
            <a:avLst/>
          </a:prstGeom>
          <a:noFill/>
          <a:ln/>
        </p:spPr>
        <p:txBody>
          <a:bodyPr wrap="square" lIns="0" tIns="0" rIns="0" bIns="0" rtlCol="0" anchor="t"/>
          <a:lstStyle/>
          <a:p>
            <a:pPr indent="0" marL="0">
              <a:buNone/>
            </a:pPr>
            <a:r>
              <a:rPr lang="en-US" sz="1400" dirty="0">
                <a:solidFill>
                  <a:schemeClr val="accent4"/>
                </a:solidFill>
              </a:rPr>
              <a:t>Test on /dev/sdX with O_DIRECT, not just a disk image.</a:t>
            </a:r>
            <a:endParaRPr lang="en-US" sz="1400" dirty="0"/>
          </a:p>
        </p:txBody>
      </p:sp>
      <p:sp>
        <p:nvSpPr>
          <p:cNvPr id="15" name="Future card"/>
          <p:cNvSpPr/>
          <p:nvPr/>
        </p:nvSpPr>
        <p:spPr>
          <a:xfrm>
            <a:off x="6035040" y="1325880"/>
            <a:ext cx="2560320" cy="1463040"/>
          </a:xfrm>
          <a:prstGeom prst="roundRect">
            <a:avLst>
              <a:gd name="adj" fmla="val 5000"/>
            </a:avLst>
          </a:prstGeom>
          <a:solidFill>
            <a:schemeClr val="accent2"/>
          </a:solidFill>
          <a:ln w="12700">
            <a:solidFill>
              <a:schemeClr val="accent2"/>
            </a:solidFill>
            <a:prstDash val="solid"/>
          </a:ln>
        </p:spPr>
      </p:sp>
      <p:sp>
        <p:nvSpPr>
          <p:cNvPr id="16" name="Step number"/>
          <p:cNvSpPr/>
          <p:nvPr/>
        </p:nvSpPr>
        <p:spPr>
          <a:xfrm>
            <a:off x="6217920" y="1463040"/>
            <a:ext cx="365760" cy="365760"/>
          </a:xfrm>
          <a:prstGeom prst="ellipse">
            <a:avLst/>
          </a:prstGeom>
          <a:solidFill>
            <a:schemeClr val="accent1"/>
          </a:solidFill>
          <a:ln w="12700">
            <a:solidFill>
              <a:schemeClr val="accent1"/>
            </a:solidFill>
            <a:prstDash val="solid"/>
          </a:ln>
        </p:spPr>
      </p:sp>
      <p:sp>
        <p:nvSpPr>
          <p:cNvPr id="17" name="Text 15"/>
          <p:cNvSpPr txBox="1"/>
          <p:nvPr/>
        </p:nvSpPr>
        <p:spPr>
          <a:xfrm>
            <a:off x="6217920" y="146304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8" name="Text 16"/>
          <p:cNvSpPr txBox="1"/>
          <p:nvPr/>
        </p:nvSpPr>
        <p:spPr>
          <a:xfrm>
            <a:off x="6720840" y="1463040"/>
            <a:ext cx="1737360" cy="365760"/>
          </a:xfrm>
          <a:prstGeom prst="rect">
            <a:avLst/>
          </a:prstGeom>
          <a:noFill/>
          <a:ln/>
        </p:spPr>
        <p:txBody>
          <a:bodyPr wrap="square" lIns="0" tIns="0" rIns="0" bIns="0" rtlCol="0" anchor="ctr"/>
          <a:lstStyle/>
          <a:p>
            <a:pPr indent="0" marL="0">
              <a:buNone/>
            </a:pPr>
            <a:r>
              <a:rPr lang="en-US" sz="1500" b="1" dirty="0">
                <a:solidFill>
                  <a:schemeClr val="bg1"/>
                </a:solidFill>
              </a:rPr>
              <a:t>Priority classes</a:t>
            </a:r>
            <a:endParaRPr lang="en-US" sz="1500" dirty="0"/>
          </a:p>
        </p:txBody>
      </p:sp>
      <p:sp>
        <p:nvSpPr>
          <p:cNvPr id="19" name="Text 17"/>
          <p:cNvSpPr txBox="1"/>
          <p:nvPr/>
        </p:nvSpPr>
        <p:spPr>
          <a:xfrm>
            <a:off x="6217920" y="1920240"/>
            <a:ext cx="2240280" cy="777240"/>
          </a:xfrm>
          <a:prstGeom prst="rect">
            <a:avLst/>
          </a:prstGeom>
          <a:noFill/>
          <a:ln/>
        </p:spPr>
        <p:txBody>
          <a:bodyPr wrap="square" lIns="0" tIns="0" rIns="0" bIns="0" rtlCol="0" anchor="t"/>
          <a:lstStyle/>
          <a:p>
            <a:pPr indent="0" marL="0">
              <a:buNone/>
            </a:pPr>
            <a:r>
              <a:rPr lang="en-US" sz="1400" dirty="0">
                <a:solidFill>
                  <a:schemeClr val="accent4"/>
                </a:solidFill>
              </a:rPr>
              <a:t>Give interactive and background processes different deadlines.</a:t>
            </a:r>
            <a:endParaRPr lang="en-US" sz="1400" dirty="0"/>
          </a:p>
        </p:txBody>
      </p:sp>
      <p:sp>
        <p:nvSpPr>
          <p:cNvPr id="20" name="Future card"/>
          <p:cNvSpPr/>
          <p:nvPr/>
        </p:nvSpPr>
        <p:spPr>
          <a:xfrm>
            <a:off x="548640" y="2971800"/>
            <a:ext cx="2560320" cy="1463040"/>
          </a:xfrm>
          <a:prstGeom prst="roundRect">
            <a:avLst>
              <a:gd name="adj" fmla="val 5000"/>
            </a:avLst>
          </a:prstGeom>
          <a:solidFill>
            <a:schemeClr val="accent2"/>
          </a:solidFill>
          <a:ln w="12700">
            <a:solidFill>
              <a:schemeClr val="accent2"/>
            </a:solidFill>
            <a:prstDash val="solid"/>
          </a:ln>
        </p:spPr>
      </p:sp>
      <p:sp>
        <p:nvSpPr>
          <p:cNvPr id="21" name="Step number"/>
          <p:cNvSpPr/>
          <p:nvPr/>
        </p:nvSpPr>
        <p:spPr>
          <a:xfrm>
            <a:off x="731520" y="3108960"/>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731520" y="310896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3" name="Text 21"/>
          <p:cNvSpPr txBox="1"/>
          <p:nvPr/>
        </p:nvSpPr>
        <p:spPr>
          <a:xfrm>
            <a:off x="1234440" y="3108960"/>
            <a:ext cx="1737360" cy="365760"/>
          </a:xfrm>
          <a:prstGeom prst="rect">
            <a:avLst/>
          </a:prstGeom>
          <a:noFill/>
          <a:ln/>
        </p:spPr>
        <p:txBody>
          <a:bodyPr wrap="square" lIns="0" tIns="0" rIns="0" bIns="0" rtlCol="0" anchor="ctr"/>
          <a:lstStyle/>
          <a:p>
            <a:pPr indent="0" marL="0">
              <a:buNone/>
            </a:pPr>
            <a:r>
              <a:rPr lang="en-US" sz="1500" b="1" dirty="0">
                <a:solidFill>
                  <a:schemeClr val="bg1"/>
                </a:solidFill>
              </a:rPr>
              <a:t>Multi-disk support</a:t>
            </a:r>
            <a:endParaRPr lang="en-US" sz="1500" dirty="0"/>
          </a:p>
        </p:txBody>
      </p:sp>
      <p:sp>
        <p:nvSpPr>
          <p:cNvPr id="24" name="Text 22"/>
          <p:cNvSpPr txBox="1"/>
          <p:nvPr/>
        </p:nvSpPr>
        <p:spPr>
          <a:xfrm>
            <a:off x="731520" y="3566160"/>
            <a:ext cx="2240280" cy="777240"/>
          </a:xfrm>
          <a:prstGeom prst="rect">
            <a:avLst/>
          </a:prstGeom>
          <a:noFill/>
          <a:ln/>
        </p:spPr>
        <p:txBody>
          <a:bodyPr wrap="square" lIns="0" tIns="0" rIns="0" bIns="0" rtlCol="0" anchor="t"/>
          <a:lstStyle/>
          <a:p>
            <a:pPr indent="0" marL="0">
              <a:buNone/>
            </a:pPr>
            <a:r>
              <a:rPr lang="en-US" sz="1400" dirty="0">
                <a:solidFill>
                  <a:schemeClr val="accent4"/>
                </a:solidFill>
              </a:rPr>
              <a:t>One scheduler per device with a shared stats region.</a:t>
            </a:r>
            <a:endParaRPr lang="en-US" sz="1400" dirty="0"/>
          </a:p>
        </p:txBody>
      </p:sp>
      <p:sp>
        <p:nvSpPr>
          <p:cNvPr id="25" name="Future card"/>
          <p:cNvSpPr/>
          <p:nvPr/>
        </p:nvSpPr>
        <p:spPr>
          <a:xfrm>
            <a:off x="3291840" y="2971800"/>
            <a:ext cx="2560320" cy="1463040"/>
          </a:xfrm>
          <a:prstGeom prst="roundRect">
            <a:avLst>
              <a:gd name="adj" fmla="val 5000"/>
            </a:avLst>
          </a:prstGeom>
          <a:solidFill>
            <a:schemeClr val="accent2"/>
          </a:solidFill>
          <a:ln w="12700">
            <a:solidFill>
              <a:schemeClr val="accent2"/>
            </a:solidFill>
            <a:prstDash val="solid"/>
          </a:ln>
        </p:spPr>
      </p:sp>
      <p:sp>
        <p:nvSpPr>
          <p:cNvPr id="26" name="Step number"/>
          <p:cNvSpPr/>
          <p:nvPr/>
        </p:nvSpPr>
        <p:spPr>
          <a:xfrm>
            <a:off x="3474720" y="3108960"/>
            <a:ext cx="365760" cy="365760"/>
          </a:xfrm>
          <a:prstGeom prst="ellipse">
            <a:avLst/>
          </a:prstGeom>
          <a:solidFill>
            <a:schemeClr val="accent1"/>
          </a:solidFill>
          <a:ln w="12700">
            <a:solidFill>
              <a:schemeClr val="accent1"/>
            </a:solidFill>
            <a:prstDash val="solid"/>
          </a:ln>
        </p:spPr>
      </p:sp>
      <p:sp>
        <p:nvSpPr>
          <p:cNvPr id="27" name="Text 25"/>
          <p:cNvSpPr txBox="1"/>
          <p:nvPr/>
        </p:nvSpPr>
        <p:spPr>
          <a:xfrm>
            <a:off x="3474720" y="310896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8" name="Text 26"/>
          <p:cNvSpPr txBox="1"/>
          <p:nvPr/>
        </p:nvSpPr>
        <p:spPr>
          <a:xfrm>
            <a:off x="3977640" y="3108960"/>
            <a:ext cx="1737360" cy="365760"/>
          </a:xfrm>
          <a:prstGeom prst="rect">
            <a:avLst/>
          </a:prstGeom>
          <a:noFill/>
          <a:ln/>
        </p:spPr>
        <p:txBody>
          <a:bodyPr wrap="square" lIns="0" tIns="0" rIns="0" bIns="0" rtlCol="0" anchor="ctr"/>
          <a:lstStyle/>
          <a:p>
            <a:pPr indent="0" marL="0">
              <a:buNone/>
            </a:pPr>
            <a:r>
              <a:rPr lang="en-US" sz="1500" b="1" dirty="0">
                <a:solidFill>
                  <a:schemeClr val="bg1"/>
                </a:solidFill>
              </a:rPr>
              <a:t>Live dashboard</a:t>
            </a:r>
            <a:endParaRPr lang="en-US" sz="1500" dirty="0"/>
          </a:p>
        </p:txBody>
      </p:sp>
      <p:sp>
        <p:nvSpPr>
          <p:cNvPr id="29" name="Text 27"/>
          <p:cNvSpPr txBox="1"/>
          <p:nvPr/>
        </p:nvSpPr>
        <p:spPr>
          <a:xfrm>
            <a:off x="3474720" y="3566160"/>
            <a:ext cx="2240280" cy="777240"/>
          </a:xfrm>
          <a:prstGeom prst="rect">
            <a:avLst/>
          </a:prstGeom>
          <a:noFill/>
          <a:ln/>
        </p:spPr>
        <p:txBody>
          <a:bodyPr wrap="square" lIns="0" tIns="0" rIns="0" bIns="0" rtlCol="0" anchor="t"/>
          <a:lstStyle/>
          <a:p>
            <a:pPr indent="0" marL="0">
              <a:buNone/>
            </a:pPr>
            <a:r>
              <a:rPr lang="en-US" sz="1400" dirty="0">
                <a:solidFill>
                  <a:schemeClr val="accent4"/>
                </a:solidFill>
              </a:rPr>
              <a:t>Chart queue length and policy switches in real time.</a:t>
            </a:r>
            <a:endParaRPr lang="en-US" sz="1400" dirty="0"/>
          </a:p>
        </p:txBody>
      </p:sp>
      <p:sp>
        <p:nvSpPr>
          <p:cNvPr id="30" name="Future card"/>
          <p:cNvSpPr/>
          <p:nvPr/>
        </p:nvSpPr>
        <p:spPr>
          <a:xfrm>
            <a:off x="6035040" y="2971800"/>
            <a:ext cx="2560320" cy="1463040"/>
          </a:xfrm>
          <a:prstGeom prst="roundRect">
            <a:avLst>
              <a:gd name="adj" fmla="val 5000"/>
            </a:avLst>
          </a:prstGeom>
          <a:solidFill>
            <a:schemeClr val="accent2"/>
          </a:solidFill>
          <a:ln w="12700">
            <a:solidFill>
              <a:schemeClr val="accent2"/>
            </a:solidFill>
            <a:prstDash val="solid"/>
          </a:ln>
        </p:spPr>
      </p:sp>
      <p:sp>
        <p:nvSpPr>
          <p:cNvPr id="31" name="Step number"/>
          <p:cNvSpPr/>
          <p:nvPr/>
        </p:nvSpPr>
        <p:spPr>
          <a:xfrm>
            <a:off x="6217920" y="3108960"/>
            <a:ext cx="365760" cy="365760"/>
          </a:xfrm>
          <a:prstGeom prst="ellipse">
            <a:avLst/>
          </a:prstGeom>
          <a:solidFill>
            <a:schemeClr val="accent1"/>
          </a:solidFill>
          <a:ln w="12700">
            <a:solidFill>
              <a:schemeClr val="accent1"/>
            </a:solidFill>
            <a:prstDash val="solid"/>
          </a:ln>
        </p:spPr>
      </p:sp>
      <p:sp>
        <p:nvSpPr>
          <p:cNvPr id="32" name="Text 30"/>
          <p:cNvSpPr txBox="1"/>
          <p:nvPr/>
        </p:nvSpPr>
        <p:spPr>
          <a:xfrm>
            <a:off x="6217920" y="3108960"/>
            <a:ext cx="365760" cy="365760"/>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33" name="Text 31"/>
          <p:cNvSpPr txBox="1"/>
          <p:nvPr/>
        </p:nvSpPr>
        <p:spPr>
          <a:xfrm>
            <a:off x="6720840" y="3108960"/>
            <a:ext cx="1737360" cy="365760"/>
          </a:xfrm>
          <a:prstGeom prst="rect">
            <a:avLst/>
          </a:prstGeom>
          <a:noFill/>
          <a:ln/>
        </p:spPr>
        <p:txBody>
          <a:bodyPr wrap="square" lIns="0" tIns="0" rIns="0" bIns="0" rtlCol="0" anchor="ctr"/>
          <a:lstStyle/>
          <a:p>
            <a:pPr indent="0" marL="0">
              <a:buNone/>
            </a:pPr>
            <a:r>
              <a:rPr lang="en-US" sz="1500" b="1" dirty="0">
                <a:solidFill>
                  <a:schemeClr val="bg1"/>
                </a:solidFill>
              </a:rPr>
              <a:t>Kernel plug-in</a:t>
            </a:r>
            <a:endParaRPr lang="en-US" sz="1500" dirty="0"/>
          </a:p>
        </p:txBody>
      </p:sp>
      <p:sp>
        <p:nvSpPr>
          <p:cNvPr id="34" name="Text 32"/>
          <p:cNvSpPr txBox="1"/>
          <p:nvPr/>
        </p:nvSpPr>
        <p:spPr>
          <a:xfrm>
            <a:off x="6217920" y="3566160"/>
            <a:ext cx="2240280" cy="777240"/>
          </a:xfrm>
          <a:prstGeom prst="rect">
            <a:avLst/>
          </a:prstGeom>
          <a:noFill/>
          <a:ln/>
        </p:spPr>
        <p:txBody>
          <a:bodyPr wrap="square" lIns="0" tIns="0" rIns="0" bIns="0" rtlCol="0" anchor="t"/>
          <a:lstStyle/>
          <a:p>
            <a:pPr indent="0" marL="0">
              <a:buNone/>
            </a:pPr>
            <a:r>
              <a:rPr lang="en-US" sz="1400" dirty="0">
                <a:solidFill>
                  <a:schemeClr val="accent4"/>
                </a:solidFill>
              </a:rPr>
              <a:t>Port the policy into a Linux I/O scheduler module.</a:t>
            </a:r>
            <a:endParaRPr lang="en-US" sz="1400" dirty="0"/>
          </a:p>
        </p:txBody>
      </p:sp>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ag"/>
          <p:cNvSpPr/>
          <p:nvPr/>
        </p:nvSpPr>
        <p:spPr>
          <a:xfrm>
            <a:off x="548640" y="256032"/>
            <a:ext cx="1627632" cy="246888"/>
          </a:xfrm>
          <a:prstGeom prst="roundRect">
            <a:avLst>
              <a:gd name="adj" fmla="val 18519"/>
            </a:avLst>
          </a:prstGeom>
          <a:solidFill>
            <a:schemeClr val="accent1"/>
          </a:solidFill>
          <a:ln w="12700">
            <a:solidFill>
              <a:schemeClr val="accent1"/>
            </a:solidFill>
            <a:prstDash val="solid"/>
          </a:ln>
        </p:spPr>
      </p:sp>
      <p:sp>
        <p:nvSpPr>
          <p:cNvPr id="3" name="Text 1"/>
          <p:cNvSpPr txBox="1"/>
          <p:nvPr/>
        </p:nvSpPr>
        <p:spPr>
          <a:xfrm>
            <a:off x="548640" y="256032"/>
            <a:ext cx="1627632" cy="246888"/>
          </a:xfrm>
          <a:prstGeom prst="rect">
            <a:avLst/>
          </a:prstGeom>
          <a:noFill/>
          <a:ln/>
        </p:spPr>
        <p:txBody>
          <a:bodyPr wrap="square" lIns="0" tIns="0" rIns="0" bIns="0" rtlCol="0" anchor="ctr"/>
          <a:lstStyle/>
          <a:p>
            <a:pPr algn="ctr" indent="0" marL="0">
              <a:buNone/>
            </a:pPr>
            <a:r>
              <a:rPr lang="en-US" sz="1000" b="1" spc="100" kern="0" dirty="0">
                <a:solidFill>
                  <a:schemeClr val="tx2"/>
                </a:solidFill>
              </a:rPr>
              <a:t>15  SUMMARY</a:t>
            </a:r>
            <a:endParaRPr lang="en-US" sz="1000" dirty="0"/>
          </a:p>
        </p:txBody>
      </p:sp>
      <p:sp>
        <p:nvSpPr>
          <p:cNvPr id="4" name="Text 0"/>
          <p:cNvSpPr/>
          <p:nvPr>
            <p:ph idx="100" type="title" hasCustomPrompt="1"/>
          </p:nvPr>
        </p:nvSpPr>
        <p:spPr>
          <a:xfrm>
            <a:off x="548640" y="566928"/>
            <a:ext cx="8046720" cy="548640"/>
          </a:xfrm>
          <a:prstGeom prst="rect">
            <a:avLst/>
          </a:prstGeom>
          <a:noFill/>
          <a:ln/>
        </p:spPr>
        <p:txBody>
          <a:bodyPr wrap="square" lIns="0" tIns="0" rIns="0" bIns="0" rtlCol="0" anchor="t"/>
          <a:lstStyle/>
          <a:p>
            <a:pPr algn="l" indent="0" marL="0">
              <a:buNone/>
            </a:pPr>
            <a:r>
              <a:rPr lang="en-US" sz="2800" b="1" dirty="0">
                <a:solidFill>
                  <a:schemeClr val="tx2"/>
                </a:solidFill>
              </a:rPr>
              <a:t>Course Outcome Coverage</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731520"/>
                <a:gridCol w="3657600"/>
                <a:gridCol w="3657600"/>
              </a:tblGrid>
              <a:tr h="457200">
                <a:tc>
                  <a:txBody>
                    <a:bodyPr/>
                    <a:lstStyle/>
                    <a:p>
                      <a:pPr indent="0" marL="0">
                        <a:buNone/>
                      </a:pPr>
                      <a:r>
                        <a:rPr lang="en-US" sz="1400" b="1" dirty="0">
                          <a:solidFill>
                            <a:schemeClr val="bg1"/>
                          </a:solidFill>
                        </a:rPr>
                        <a:t>CO</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Concepts</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In Smart Disk Scheduler</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accent2"/>
                    </a:solidFill>
                  </a:tcPr>
                </a:tc>
              </a:tr>
              <a:tr h="457200">
                <a:tc>
                  <a:txBody>
                    <a:bodyPr/>
                    <a:lstStyle/>
                    <a:p>
                      <a:pPr indent="0" marL="0">
                        <a:buNone/>
                      </a:pPr>
                      <a:r>
                        <a:rPr lang="en-US" sz="1400" b="1" dirty="0">
                          <a:solidFill>
                            <a:schemeClr val="tx2"/>
                          </a:solidFill>
                        </a:rPr>
                        <a:t>CO-1</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System calls, user vs kernel space, shell</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open, pread, close; shell starts the daemon</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CO-2</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fork, exec, wait, process states</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Clients created and reaped</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CO-3</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FIFOs, pipes, signals, job control</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Request channel and policy control</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CO-4</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Virtual memory, malloc, mmap, Valgrind</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Queue, shared stats, leak checks</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CO-5</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Inodes, VFS, fds, buffered I/O, ext4</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Disk image read with pread</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CO-6</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Pthreads, mutex, condvar, semaphore</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Producer-consumer request queue</a:t>
                      </a:r>
                      <a:endParaRPr lang="en-US" sz="1400" dirty="0"/>
                    </a:p>
                  </a:txBody>
                  <a:tcPr marL="91440" marR="91440" marT="45720" marB="4572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1381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mart Disk Scheduler">
  <a:themeElements>
    <a:clrScheme name="Smart Disk Scheduler">
      <a:dk1>
        <a:srgbClr val="1B2A3C"/>
      </a:dk1>
      <a:lt1>
        <a:srgbClr val="FFFFFF"/>
      </a:lt1>
      <a:dk2>
        <a:srgbClr val="0F1B2D"/>
      </a:dk2>
      <a:lt2>
        <a:srgbClr val="F4F6FA"/>
      </a:lt2>
      <a:accent1>
        <a:srgbClr val="F5A300"/>
      </a:accent1>
      <a:accent2>
        <a:srgbClr val="1E4D6E"/>
      </a:accent2>
      <a:accent3>
        <a:srgbClr val="2E7DA6"/>
      </a:accent3>
      <a:accent4>
        <a:srgbClr val="A9D0EA"/>
      </a:accent4>
      <a:accent5>
        <a:srgbClr val="E5484D"/>
      </a:accent5>
      <a:accent6>
        <a:srgbClr val="3BA676"/>
      </a:accent6>
      <a:hlink>
        <a:srgbClr val="2E7DA6"/>
      </a:hlink>
      <a:folHlink>
        <a:srgbClr val="1E4D6E"/>
      </a:folHlink>
    </a:clrScheme>
    <a:fontScheme name="Smart Disk Schedul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Disk Scheduler</dc:title>
  <dc:subject>PptxGenJS Presentation</dc:subject>
  <dc:creator>PptxGenJS</dc:creator>
  <cp:lastModifiedBy>PptxGenJS</cp:lastModifiedBy>
  <cp:revision>1</cp:revision>
  <dcterms:created xsi:type="dcterms:W3CDTF">2026-10-17T05:47:29Z</dcterms:created>
  <dcterms:modified xsi:type="dcterms:W3CDTF">2026-10-17T05:47:29Z</dcterms:modified>
</cp:coreProperties>
</file>